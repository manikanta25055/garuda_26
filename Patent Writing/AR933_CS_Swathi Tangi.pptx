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4" r:id="rId5"/>
    <p:sldId id="265" r:id="rId6"/>
    <p:sldId id="267" r:id="rId7"/>
    <p:sldId id="268" r:id="rId8"/>
    <p:sldId id="266" r:id="rId9"/>
  </p:sldIdLst>
  <p:sldSz cx="7578725" cy="1075213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66" userDrawn="1">
          <p15:clr>
            <a:srgbClr val="A4A3A4"/>
          </p15:clr>
        </p15:guide>
        <p15:guide id="2" pos="241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" roundtripDataSignature="AMtx7mjKqcMfcrKVkIDr10XV+bu07mnNT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1CC14B-D67D-12CE-3320-9459758B4B17}" name="Kiran S G" initials="KS" userId="8f70783f61e820e1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epak Lavet Pereira" initials="DP" lastIdx="2" clrIdx="0">
    <p:extLst>
      <p:ext uri="{19B8F6BF-5375-455C-9EA6-DF929625EA0E}">
        <p15:presenceInfo xmlns:p15="http://schemas.microsoft.com/office/powerpoint/2012/main" userId="5956bf7dab47651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648" y="82"/>
      </p:cViewPr>
      <p:guideLst>
        <p:guide orient="horz" pos="2366"/>
        <p:guide pos="24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20913" y="685800"/>
            <a:ext cx="24161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20913" y="685800"/>
            <a:ext cx="24161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" name="Google Shape;1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20913" y="685800"/>
            <a:ext cx="24161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54862570-A5AC-2988-1E23-6EA04D77E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>
            <a:extLst>
              <a:ext uri="{FF2B5EF4-FFF2-40B4-BE49-F238E27FC236}">
                <a16:creationId xmlns:a16="http://schemas.microsoft.com/office/drawing/2014/main" id="{258724D0-2871-A806-140A-68A541D992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38" name="Google Shape;138;p2:notes">
            <a:extLst>
              <a:ext uri="{FF2B5EF4-FFF2-40B4-BE49-F238E27FC236}">
                <a16:creationId xmlns:a16="http://schemas.microsoft.com/office/drawing/2014/main" id="{521B9A4F-43EE-7C92-B569-FF05BBD264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20913" y="685800"/>
            <a:ext cx="24161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14746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5851AF72-5933-9C31-CC24-F579D8946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>
            <a:extLst>
              <a:ext uri="{FF2B5EF4-FFF2-40B4-BE49-F238E27FC236}">
                <a16:creationId xmlns:a16="http://schemas.microsoft.com/office/drawing/2014/main" id="{6DEFDF98-51D0-51AF-EBCA-3D919E0A35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38" name="Google Shape;138;p2:notes">
            <a:extLst>
              <a:ext uri="{FF2B5EF4-FFF2-40B4-BE49-F238E27FC236}">
                <a16:creationId xmlns:a16="http://schemas.microsoft.com/office/drawing/2014/main" id="{A7B54E4A-1712-D418-5253-88D391DF32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20913" y="685800"/>
            <a:ext cx="24161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16766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338D5479-51DF-CA8E-FE9B-F1AAEA2E6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>
            <a:extLst>
              <a:ext uri="{FF2B5EF4-FFF2-40B4-BE49-F238E27FC236}">
                <a16:creationId xmlns:a16="http://schemas.microsoft.com/office/drawing/2014/main" id="{EDBB9660-E3AD-F5DA-8C7B-8C201A8CEA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38" name="Google Shape;138;p2:notes">
            <a:extLst>
              <a:ext uri="{FF2B5EF4-FFF2-40B4-BE49-F238E27FC236}">
                <a16:creationId xmlns:a16="http://schemas.microsoft.com/office/drawing/2014/main" id="{DAFE618E-D1A7-5FDC-CE1A-9C86C22A61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20913" y="685800"/>
            <a:ext cx="24161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27733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C40FAB1C-8E03-E60E-3D00-1F291E85C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>
            <a:extLst>
              <a:ext uri="{FF2B5EF4-FFF2-40B4-BE49-F238E27FC236}">
                <a16:creationId xmlns:a16="http://schemas.microsoft.com/office/drawing/2014/main" id="{C7A953C9-268C-5CD6-C450-A2D660C4E8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38" name="Google Shape;138;p2:notes">
            <a:extLst>
              <a:ext uri="{FF2B5EF4-FFF2-40B4-BE49-F238E27FC236}">
                <a16:creationId xmlns:a16="http://schemas.microsoft.com/office/drawing/2014/main" id="{140DB1C1-0864-F78B-64D2-E329E79C4D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20913" y="685800"/>
            <a:ext cx="24161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63707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FB4C16D4-E9B6-5BD4-9180-CC95F5A0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>
            <a:extLst>
              <a:ext uri="{FF2B5EF4-FFF2-40B4-BE49-F238E27FC236}">
                <a16:creationId xmlns:a16="http://schemas.microsoft.com/office/drawing/2014/main" id="{9D515B79-412B-478A-4FB0-E761C48B8A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38" name="Google Shape;138;p2:notes">
            <a:extLst>
              <a:ext uri="{FF2B5EF4-FFF2-40B4-BE49-F238E27FC236}">
                <a16:creationId xmlns:a16="http://schemas.microsoft.com/office/drawing/2014/main" id="{983A8305-3FE8-1A33-3738-9B977B90A5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20913" y="685800"/>
            <a:ext cx="24161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38192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ctrTitle"/>
          </p:nvPr>
        </p:nvSpPr>
        <p:spPr>
          <a:xfrm>
            <a:off x="568405" y="1759668"/>
            <a:ext cx="6441916" cy="37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73"/>
              <a:buFont typeface="Calibri"/>
              <a:buNone/>
              <a:defRPr sz="497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subTitle" idx="1"/>
          </p:nvPr>
        </p:nvSpPr>
        <p:spPr>
          <a:xfrm>
            <a:off x="947341" y="5647362"/>
            <a:ext cx="5684044" cy="2595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29"/>
              </a:spcBef>
              <a:spcAft>
                <a:spcPts val="0"/>
              </a:spcAft>
              <a:buClr>
                <a:schemeClr val="dk1"/>
              </a:buClr>
              <a:buSzPts val="1989"/>
              <a:buNone/>
              <a:defRPr sz="1989"/>
            </a:lvl1pPr>
            <a:lvl2pPr lvl="1" algn="ctr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658"/>
              <a:buNone/>
              <a:defRPr sz="1658"/>
            </a:lvl2pPr>
            <a:lvl3pPr lvl="2" algn="ctr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492"/>
              <a:buNone/>
              <a:defRPr sz="1492"/>
            </a:lvl3pPr>
            <a:lvl4pPr lvl="3" algn="ctr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/>
            </a:lvl4pPr>
            <a:lvl5pPr lvl="4" algn="ctr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/>
            </a:lvl5pPr>
            <a:lvl6pPr lvl="5" algn="ctr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/>
            </a:lvl6pPr>
            <a:lvl7pPr lvl="6" algn="ctr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/>
            </a:lvl7pPr>
            <a:lvl8pPr lvl="7" algn="ctr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/>
            </a:lvl8pPr>
            <a:lvl9pPr lvl="8" algn="ctr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521037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2510453" y="9965641"/>
            <a:ext cx="2557820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5352475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522025" y="572454"/>
            <a:ext cx="6536650" cy="207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1"/>
          </p:nvPr>
        </p:nvSpPr>
        <p:spPr>
          <a:xfrm>
            <a:off x="522026" y="2635768"/>
            <a:ext cx="3206155" cy="1291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29"/>
              </a:spcBef>
              <a:spcAft>
                <a:spcPts val="0"/>
              </a:spcAft>
              <a:buClr>
                <a:schemeClr val="dk1"/>
              </a:buClr>
              <a:buSzPts val="1989"/>
              <a:buNone/>
              <a:defRPr sz="1989" b="1"/>
            </a:lvl1pPr>
            <a:lvl2pPr marL="914400" lvl="1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658"/>
              <a:buNone/>
              <a:defRPr sz="1658" b="1"/>
            </a:lvl2pPr>
            <a:lvl3pPr marL="1371600" lvl="2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492"/>
              <a:buNone/>
              <a:defRPr sz="1492" b="1"/>
            </a:lvl3pPr>
            <a:lvl4pPr marL="1828800" lvl="3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 b="1"/>
            </a:lvl4pPr>
            <a:lvl5pPr marL="2286000" lvl="4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 b="1"/>
            </a:lvl5pPr>
            <a:lvl6pPr marL="2743200" lvl="5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 b="1"/>
            </a:lvl6pPr>
            <a:lvl7pPr marL="3200400" lvl="6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 b="1"/>
            </a:lvl7pPr>
            <a:lvl8pPr marL="3657600" lvl="7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 b="1"/>
            </a:lvl8pPr>
            <a:lvl9pPr marL="4114800" lvl="8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 b="1"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body" idx="2"/>
          </p:nvPr>
        </p:nvSpPr>
        <p:spPr>
          <a:xfrm>
            <a:off x="522026" y="3927517"/>
            <a:ext cx="3206155" cy="577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2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body" idx="3"/>
          </p:nvPr>
        </p:nvSpPr>
        <p:spPr>
          <a:xfrm>
            <a:off x="3836730" y="2635768"/>
            <a:ext cx="3221945" cy="1291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29"/>
              </a:spcBef>
              <a:spcAft>
                <a:spcPts val="0"/>
              </a:spcAft>
              <a:buClr>
                <a:schemeClr val="dk1"/>
              </a:buClr>
              <a:buSzPts val="1989"/>
              <a:buNone/>
              <a:defRPr sz="1989" b="1"/>
            </a:lvl1pPr>
            <a:lvl2pPr marL="914400" lvl="1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658"/>
              <a:buNone/>
              <a:defRPr sz="1658" b="1"/>
            </a:lvl2pPr>
            <a:lvl3pPr marL="1371600" lvl="2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492"/>
              <a:buNone/>
              <a:defRPr sz="1492" b="1"/>
            </a:lvl3pPr>
            <a:lvl4pPr marL="1828800" lvl="3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 b="1"/>
            </a:lvl4pPr>
            <a:lvl5pPr marL="2286000" lvl="4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 b="1"/>
            </a:lvl5pPr>
            <a:lvl6pPr marL="2743200" lvl="5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 b="1"/>
            </a:lvl6pPr>
            <a:lvl7pPr marL="3200400" lvl="6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 b="1"/>
            </a:lvl7pPr>
            <a:lvl8pPr marL="3657600" lvl="7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 b="1"/>
            </a:lvl8pPr>
            <a:lvl9pPr marL="4114800" lvl="8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 b="1"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4"/>
          </p:nvPr>
        </p:nvSpPr>
        <p:spPr>
          <a:xfrm>
            <a:off x="3836730" y="3927517"/>
            <a:ext cx="3221945" cy="577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2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dt" idx="10"/>
          </p:nvPr>
        </p:nvSpPr>
        <p:spPr>
          <a:xfrm>
            <a:off x="521037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ftr" idx="11"/>
          </p:nvPr>
        </p:nvSpPr>
        <p:spPr>
          <a:xfrm>
            <a:off x="2510453" y="9965641"/>
            <a:ext cx="2557820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sldNum" idx="12"/>
          </p:nvPr>
        </p:nvSpPr>
        <p:spPr>
          <a:xfrm>
            <a:off x="5352475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 txBox="1">
            <a:spLocks noGrp="1"/>
          </p:cNvSpPr>
          <p:nvPr>
            <p:ph type="title"/>
          </p:nvPr>
        </p:nvSpPr>
        <p:spPr>
          <a:xfrm>
            <a:off x="521038" y="572454"/>
            <a:ext cx="6536650" cy="207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dt" idx="10"/>
          </p:nvPr>
        </p:nvSpPr>
        <p:spPr>
          <a:xfrm>
            <a:off x="521037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ftr" idx="11"/>
          </p:nvPr>
        </p:nvSpPr>
        <p:spPr>
          <a:xfrm>
            <a:off x="2510453" y="9965641"/>
            <a:ext cx="2557820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5352475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dt" idx="10"/>
          </p:nvPr>
        </p:nvSpPr>
        <p:spPr>
          <a:xfrm>
            <a:off x="521037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ftr" idx="11"/>
          </p:nvPr>
        </p:nvSpPr>
        <p:spPr>
          <a:xfrm>
            <a:off x="2510453" y="9965641"/>
            <a:ext cx="2557820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sldNum" idx="12"/>
          </p:nvPr>
        </p:nvSpPr>
        <p:spPr>
          <a:xfrm>
            <a:off x="5352475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title"/>
          </p:nvPr>
        </p:nvSpPr>
        <p:spPr>
          <a:xfrm>
            <a:off x="522025" y="716809"/>
            <a:ext cx="2444336" cy="2508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2"/>
              <a:buFont typeface="Calibri"/>
              <a:buNone/>
              <a:defRPr sz="265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body" idx="1"/>
          </p:nvPr>
        </p:nvSpPr>
        <p:spPr>
          <a:xfrm>
            <a:off x="3221945" y="1548111"/>
            <a:ext cx="3836730" cy="764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002" algn="l">
              <a:lnSpc>
                <a:spcPct val="90000"/>
              </a:lnSpc>
              <a:spcBef>
                <a:spcPts val="829"/>
              </a:spcBef>
              <a:spcAft>
                <a:spcPts val="0"/>
              </a:spcAft>
              <a:buClr>
                <a:schemeClr val="dk1"/>
              </a:buClr>
              <a:buSzPts val="2652"/>
              <a:buChar char="•"/>
              <a:defRPr sz="2652"/>
            </a:lvl1pPr>
            <a:lvl2pPr marL="914400" lvl="1" indent="-375983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2321"/>
              <a:buChar char="•"/>
              <a:defRPr sz="2321"/>
            </a:lvl2pPr>
            <a:lvl3pPr marL="1371600" lvl="2" indent="-354901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989"/>
              <a:buChar char="•"/>
              <a:defRPr sz="1989"/>
            </a:lvl3pPr>
            <a:lvl4pPr marL="1828800" lvl="3" indent="-333883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658"/>
              <a:buChar char="•"/>
              <a:defRPr sz="1658"/>
            </a:lvl4pPr>
            <a:lvl5pPr marL="2286000" lvl="4" indent="-333882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658"/>
              <a:buChar char="•"/>
              <a:defRPr sz="1658"/>
            </a:lvl5pPr>
            <a:lvl6pPr marL="2743200" lvl="5" indent="-333882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658"/>
              <a:buChar char="•"/>
              <a:defRPr sz="1658"/>
            </a:lvl6pPr>
            <a:lvl7pPr marL="3200400" lvl="6" indent="-333882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658"/>
              <a:buChar char="•"/>
              <a:defRPr sz="1658"/>
            </a:lvl7pPr>
            <a:lvl8pPr marL="3657600" lvl="7" indent="-333883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658"/>
              <a:buChar char="•"/>
              <a:defRPr sz="1658"/>
            </a:lvl8pPr>
            <a:lvl9pPr marL="4114800" lvl="8" indent="-333883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658"/>
              <a:buChar char="•"/>
              <a:defRPr sz="1658"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body" idx="2"/>
          </p:nvPr>
        </p:nvSpPr>
        <p:spPr>
          <a:xfrm>
            <a:off x="522025" y="3225641"/>
            <a:ext cx="2444336" cy="59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29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/>
            </a:lvl1pPr>
            <a:lvl2pPr marL="914400" lvl="1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160"/>
              <a:buNone/>
              <a:defRPr sz="1160"/>
            </a:lvl2pPr>
            <a:lvl3pPr marL="1371600" lvl="2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995"/>
              <a:buNone/>
              <a:defRPr sz="995"/>
            </a:lvl3pPr>
            <a:lvl4pPr marL="1828800" lvl="3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829"/>
              <a:buNone/>
              <a:defRPr sz="829"/>
            </a:lvl4pPr>
            <a:lvl5pPr marL="2286000" lvl="4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829"/>
              <a:buNone/>
              <a:defRPr sz="829"/>
            </a:lvl5pPr>
            <a:lvl6pPr marL="2743200" lvl="5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829"/>
              <a:buNone/>
              <a:defRPr sz="829"/>
            </a:lvl6pPr>
            <a:lvl7pPr marL="3200400" lvl="6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829"/>
              <a:buNone/>
              <a:defRPr sz="829"/>
            </a:lvl7pPr>
            <a:lvl8pPr marL="3657600" lvl="7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829"/>
              <a:buNone/>
              <a:defRPr sz="829"/>
            </a:lvl8pPr>
            <a:lvl9pPr marL="4114800" lvl="8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829"/>
              <a:buNone/>
              <a:defRPr sz="829"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dt" idx="10"/>
          </p:nvPr>
        </p:nvSpPr>
        <p:spPr>
          <a:xfrm>
            <a:off x="521037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ftr" idx="11"/>
          </p:nvPr>
        </p:nvSpPr>
        <p:spPr>
          <a:xfrm>
            <a:off x="2510453" y="9965641"/>
            <a:ext cx="2557820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sldNum" idx="12"/>
          </p:nvPr>
        </p:nvSpPr>
        <p:spPr>
          <a:xfrm>
            <a:off x="5352475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>
            <a:spLocks noGrp="1"/>
          </p:cNvSpPr>
          <p:nvPr>
            <p:ph type="title"/>
          </p:nvPr>
        </p:nvSpPr>
        <p:spPr>
          <a:xfrm>
            <a:off x="522025" y="716809"/>
            <a:ext cx="2444336" cy="2508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2"/>
              <a:buFont typeface="Calibri"/>
              <a:buNone/>
              <a:defRPr sz="265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>
            <a:spLocks noGrp="1"/>
          </p:cNvSpPr>
          <p:nvPr>
            <p:ph type="pic" idx="2"/>
          </p:nvPr>
        </p:nvSpPr>
        <p:spPr>
          <a:xfrm>
            <a:off x="3221945" y="1548111"/>
            <a:ext cx="3836730" cy="7640987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6"/>
          <p:cNvSpPr txBox="1">
            <a:spLocks noGrp="1"/>
          </p:cNvSpPr>
          <p:nvPr>
            <p:ph type="body" idx="1"/>
          </p:nvPr>
        </p:nvSpPr>
        <p:spPr>
          <a:xfrm>
            <a:off x="522025" y="3225641"/>
            <a:ext cx="2444336" cy="59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29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/>
            </a:lvl1pPr>
            <a:lvl2pPr marL="914400" lvl="1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160"/>
              <a:buNone/>
              <a:defRPr sz="1160"/>
            </a:lvl2pPr>
            <a:lvl3pPr marL="1371600" lvl="2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995"/>
              <a:buNone/>
              <a:defRPr sz="995"/>
            </a:lvl3pPr>
            <a:lvl4pPr marL="1828800" lvl="3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829"/>
              <a:buNone/>
              <a:defRPr sz="829"/>
            </a:lvl4pPr>
            <a:lvl5pPr marL="2286000" lvl="4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829"/>
              <a:buNone/>
              <a:defRPr sz="829"/>
            </a:lvl5pPr>
            <a:lvl6pPr marL="2743200" lvl="5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829"/>
              <a:buNone/>
              <a:defRPr sz="829"/>
            </a:lvl6pPr>
            <a:lvl7pPr marL="3200400" lvl="6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829"/>
              <a:buNone/>
              <a:defRPr sz="829"/>
            </a:lvl7pPr>
            <a:lvl8pPr marL="3657600" lvl="7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829"/>
              <a:buNone/>
              <a:defRPr sz="829"/>
            </a:lvl8pPr>
            <a:lvl9pPr marL="4114800" lvl="8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829"/>
              <a:buNone/>
              <a:defRPr sz="829"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dt" idx="10"/>
          </p:nvPr>
        </p:nvSpPr>
        <p:spPr>
          <a:xfrm>
            <a:off x="521037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ftr" idx="11"/>
          </p:nvPr>
        </p:nvSpPr>
        <p:spPr>
          <a:xfrm>
            <a:off x="2510453" y="9965641"/>
            <a:ext cx="2557820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sldNum" idx="12"/>
          </p:nvPr>
        </p:nvSpPr>
        <p:spPr>
          <a:xfrm>
            <a:off x="5352475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>
            <a:spLocks noGrp="1"/>
          </p:cNvSpPr>
          <p:nvPr>
            <p:ph type="title"/>
          </p:nvPr>
        </p:nvSpPr>
        <p:spPr>
          <a:xfrm>
            <a:off x="521038" y="572454"/>
            <a:ext cx="6536650" cy="207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 rot="5400000">
            <a:off x="378297" y="3005001"/>
            <a:ext cx="6822133" cy="65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2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521037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2510453" y="9965641"/>
            <a:ext cx="2557820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5352475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 rot="5400000">
            <a:off x="1684637" y="4311341"/>
            <a:ext cx="9111940" cy="163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-1631055" y="2724545"/>
            <a:ext cx="9111940" cy="480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2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521037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2510453" y="9965641"/>
            <a:ext cx="2557820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5352475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521038" y="572454"/>
            <a:ext cx="6536650" cy="207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47"/>
              <a:buFont typeface="Calibri"/>
              <a:buNone/>
              <a:defRPr sz="36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521038" y="2862259"/>
            <a:ext cx="6536650" cy="6822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5983" algn="l" rtl="0">
              <a:lnSpc>
                <a:spcPct val="90000"/>
              </a:lnSpc>
              <a:spcBef>
                <a:spcPts val="829"/>
              </a:spcBef>
              <a:spcAft>
                <a:spcPts val="0"/>
              </a:spcAft>
              <a:buClr>
                <a:schemeClr val="dk1"/>
              </a:buClr>
              <a:buSzPts val="2321"/>
              <a:buFont typeface="Arial"/>
              <a:buChar char="•"/>
              <a:defRPr sz="232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4901" algn="l" rtl="0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989"/>
              <a:buFont typeface="Arial"/>
              <a:buChar char="•"/>
              <a:defRPr sz="19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3883" algn="l" rtl="0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658"/>
              <a:buFont typeface="Arial"/>
              <a:buChar char="•"/>
              <a:defRPr sz="16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342" algn="l" rtl="0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492"/>
              <a:buFont typeface="Arial"/>
              <a:buChar char="•"/>
              <a:defRPr sz="14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342" algn="l" rtl="0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492"/>
              <a:buFont typeface="Arial"/>
              <a:buChar char="•"/>
              <a:defRPr sz="14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342" algn="l" rtl="0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492"/>
              <a:buFont typeface="Arial"/>
              <a:buChar char="•"/>
              <a:defRPr sz="14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342" algn="l" rtl="0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492"/>
              <a:buFont typeface="Arial"/>
              <a:buChar char="•"/>
              <a:defRPr sz="14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341" algn="l" rtl="0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492"/>
              <a:buFont typeface="Arial"/>
              <a:buChar char="•"/>
              <a:defRPr sz="14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341" algn="l" rtl="0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492"/>
              <a:buFont typeface="Arial"/>
              <a:buChar char="•"/>
              <a:defRPr sz="14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521037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2510453" y="9965641"/>
            <a:ext cx="2557820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5352475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"/>
          <p:cNvGrpSpPr/>
          <p:nvPr/>
        </p:nvGrpSpPr>
        <p:grpSpPr>
          <a:xfrm>
            <a:off x="4539916" y="18510"/>
            <a:ext cx="2924659" cy="609601"/>
            <a:chOff x="3962400" y="381000"/>
            <a:chExt cx="2179507" cy="609601"/>
          </a:xfrm>
        </p:grpSpPr>
        <p:sp>
          <p:nvSpPr>
            <p:cNvPr id="82" name="Google Shape;82;p1"/>
            <p:cNvSpPr txBox="1"/>
            <p:nvPr/>
          </p:nvSpPr>
          <p:spPr>
            <a:xfrm>
              <a:off x="3962400" y="381000"/>
              <a:ext cx="217950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TOTAL NO. OF PAGES:08</a:t>
              </a:r>
              <a:endParaRPr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83" name="Google Shape;83;p1"/>
            <p:cNvSpPr txBox="1"/>
            <p:nvPr/>
          </p:nvSpPr>
          <p:spPr>
            <a:xfrm>
              <a:off x="4038599" y="652047"/>
              <a:ext cx="1296765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PAGE NO.: 01</a:t>
              </a:r>
              <a:endParaRPr sz="16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84" name="Google Shape;84;p1"/>
          <p:cNvSpPr txBox="1"/>
          <p:nvPr/>
        </p:nvSpPr>
        <p:spPr>
          <a:xfrm>
            <a:off x="41238" y="66122"/>
            <a:ext cx="326411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NAME OF THE APPLICANT: 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902B85-E107-0D30-6050-D8296831FF34}"/>
              </a:ext>
            </a:extLst>
          </p:cNvPr>
          <p:cNvGrpSpPr/>
          <p:nvPr/>
        </p:nvGrpSpPr>
        <p:grpSpPr>
          <a:xfrm>
            <a:off x="652024" y="3110510"/>
            <a:ext cx="6274676" cy="2754262"/>
            <a:chOff x="1570739" y="4123601"/>
            <a:chExt cx="6503342" cy="2084525"/>
          </a:xfrm>
        </p:grpSpPr>
        <p:grpSp>
          <p:nvGrpSpPr>
            <p:cNvPr id="85" name="Google Shape;85;p1"/>
            <p:cNvGrpSpPr/>
            <p:nvPr/>
          </p:nvGrpSpPr>
          <p:grpSpPr>
            <a:xfrm>
              <a:off x="1570739" y="4123601"/>
              <a:ext cx="4233494" cy="2084525"/>
              <a:chOff x="-1004064" y="4189416"/>
              <a:chExt cx="5437362" cy="2825844"/>
            </a:xfrm>
          </p:grpSpPr>
          <p:grpSp>
            <p:nvGrpSpPr>
              <p:cNvPr id="86" name="Google Shape;86;p1"/>
              <p:cNvGrpSpPr/>
              <p:nvPr/>
            </p:nvGrpSpPr>
            <p:grpSpPr>
              <a:xfrm>
                <a:off x="-1004064" y="4189416"/>
                <a:ext cx="5437362" cy="1574190"/>
                <a:chOff x="-1206201" y="4140944"/>
                <a:chExt cx="5629235" cy="1534577"/>
              </a:xfrm>
            </p:grpSpPr>
            <p:sp>
              <p:nvSpPr>
                <p:cNvPr id="87" name="Google Shape;87;p1"/>
                <p:cNvSpPr/>
                <p:nvPr/>
              </p:nvSpPr>
              <p:spPr>
                <a:xfrm>
                  <a:off x="1843858" y="4140944"/>
                  <a:ext cx="2579176" cy="1534577"/>
                </a:xfrm>
                <a:prstGeom prst="cloud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74275" tIns="37125" rIns="74275" bIns="371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-US" sz="1600" b="0" i="0" u="none" strike="noStrike" cap="none" dirty="0">
                      <a:solidFill>
                        <a:schemeClr val="dk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rPr>
                    <a:t>NETWORK </a:t>
                  </a: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-US" sz="1600" b="1" i="0" u="sng" strike="noStrike" cap="none" dirty="0">
                      <a:solidFill>
                        <a:schemeClr val="dk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rPr>
                    <a:t>10</a:t>
                  </a:r>
                  <a:endParaRPr lang="en-US" sz="1600" b="1" i="0" u="sng" strike="noStrike" cap="none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</a:endParaRPr>
                </a:p>
              </p:txBody>
            </p:sp>
            <p:sp>
              <p:nvSpPr>
                <p:cNvPr id="91" name="Google Shape;91;p1"/>
                <p:cNvSpPr/>
                <p:nvPr/>
              </p:nvSpPr>
              <p:spPr>
                <a:xfrm>
                  <a:off x="-1206201" y="4252081"/>
                  <a:ext cx="2159499" cy="133960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lt1"/>
                </a:solidFill>
                <a:ln w="19050" cap="flat" cmpd="sng">
                  <a:solidFill>
                    <a:srgbClr val="082836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74275" tIns="37125" rIns="74275" bIns="37125" anchor="ctr" anchorCtr="0">
                  <a:noAutofit/>
                </a:bodyPr>
                <a:lstStyle/>
                <a:p>
                  <a:pPr lvl="0" algn="ctr"/>
                  <a:r>
                    <a:rPr lang="en-I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SYSTEM</a:t>
                  </a:r>
                  <a:r>
                    <a:rPr lang="en-US" sz="1600" b="0" i="0" u="none" strike="noStrike" cap="none" dirty="0">
                      <a:solidFill>
                        <a:schemeClr val="dk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rPr>
                    <a:t> </a:t>
                  </a:r>
                  <a:r>
                    <a:rPr lang="en-US" sz="1600" b="1" i="0" u="sng" strike="noStrike" cap="none" dirty="0">
                      <a:solidFill>
                        <a:schemeClr val="dk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rPr>
                    <a:t>100</a:t>
                  </a:r>
                  <a:endParaRPr lang="en-US" sz="1600" b="1" i="0" u="sng" strike="noStrike" cap="none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</a:endParaRPr>
                </a:p>
              </p:txBody>
            </p:sp>
            <p:cxnSp>
              <p:nvCxnSpPr>
                <p:cNvPr id="93" name="Google Shape;93;p1"/>
                <p:cNvCxnSpPr>
                  <a:cxnSpLocks/>
                  <a:stCxn id="87" idx="2"/>
                  <a:endCxn id="91" idx="3"/>
                </p:cNvCxnSpPr>
                <p:nvPr/>
              </p:nvCxnSpPr>
              <p:spPr>
                <a:xfrm flipH="1">
                  <a:off x="953298" y="4908233"/>
                  <a:ext cx="898560" cy="13649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triangle" w="med" len="med"/>
                  <a:tailEnd type="triangle" w="med" len="med"/>
                </a:ln>
              </p:spPr>
            </p:cxnSp>
          </p:grpSp>
          <p:sp>
            <p:nvSpPr>
              <p:cNvPr id="96" name="Google Shape;96;p1"/>
              <p:cNvSpPr txBox="1"/>
              <p:nvPr/>
            </p:nvSpPr>
            <p:spPr>
              <a:xfrm>
                <a:off x="2460347" y="6579838"/>
                <a:ext cx="1454635" cy="4354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4275" tIns="37125" rIns="74275" bIns="371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3"/>
                  <a:buFont typeface="Arial"/>
                  <a:buNone/>
                </a:pPr>
                <a:r>
                  <a:rPr lang="en-US" sz="1600" b="1" i="0" u="none" strike="noStrike" cap="none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</a:rPr>
                  <a:t>FIG.1A</a:t>
                </a:r>
                <a:endParaRPr lang="en-US" sz="1600" b="0" i="0" u="none" strike="noStrike" cap="none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</p:grpSp>
        <p:sp>
          <p:nvSpPr>
            <p:cNvPr id="2" name="Google Shape;91;p1">
              <a:extLst>
                <a:ext uri="{FF2B5EF4-FFF2-40B4-BE49-F238E27FC236}">
                  <a16:creationId xmlns:a16="http://schemas.microsoft.com/office/drawing/2014/main" id="{8A50DE13-219C-08D3-4E6D-5E5918EF377A}"/>
                </a:ext>
              </a:extLst>
            </p:cNvPr>
            <p:cNvSpPr/>
            <p:nvPr/>
          </p:nvSpPr>
          <p:spPr>
            <a:xfrm>
              <a:off x="6501180" y="4207700"/>
              <a:ext cx="1572901" cy="101368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4275" tIns="37125" rIns="74275" bIns="37125" anchor="ctr" anchorCtr="0">
              <a:noAutofit/>
            </a:bodyPr>
            <a:lstStyle/>
            <a:p>
              <a:pPr lvl="0" algn="ctr"/>
              <a:r>
                <a:rPr lang="en-US" sz="16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REMOTE DEVICE </a:t>
              </a:r>
              <a:r>
                <a:rPr lang="en-US" sz="1600" b="1" i="0" u="sng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13</a:t>
              </a:r>
              <a:endParaRPr lang="en-US" sz="1600" b="1" i="0" u="sng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cxnSp>
          <p:nvCxnSpPr>
            <p:cNvPr id="3" name="Google Shape;93;p1">
              <a:extLst>
                <a:ext uri="{FF2B5EF4-FFF2-40B4-BE49-F238E27FC236}">
                  <a16:creationId xmlns:a16="http://schemas.microsoft.com/office/drawing/2014/main" id="{FBAE9094-C1EC-F8B0-3A4B-5202013F9986}"/>
                </a:ext>
              </a:extLst>
            </p:cNvPr>
            <p:cNvCxnSpPr>
              <a:cxnSpLocks/>
              <a:stCxn id="87" idx="0"/>
              <a:endCxn id="2" idx="1"/>
            </p:cNvCxnSpPr>
            <p:nvPr/>
          </p:nvCxnSpPr>
          <p:spPr>
            <a:xfrm>
              <a:off x="5802617" y="4704214"/>
              <a:ext cx="698563" cy="1032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6"/>
          <p:cNvGrpSpPr/>
          <p:nvPr/>
        </p:nvGrpSpPr>
        <p:grpSpPr>
          <a:xfrm>
            <a:off x="4539916" y="18510"/>
            <a:ext cx="2924659" cy="609601"/>
            <a:chOff x="3962400" y="381000"/>
            <a:chExt cx="2179507" cy="609601"/>
          </a:xfrm>
        </p:grpSpPr>
        <p:sp>
          <p:nvSpPr>
            <p:cNvPr id="113" name="Google Shape;113;p6"/>
            <p:cNvSpPr txBox="1"/>
            <p:nvPr/>
          </p:nvSpPr>
          <p:spPr>
            <a:xfrm>
              <a:off x="3962400" y="381000"/>
              <a:ext cx="217950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TOTAL NO. OF PAGES:08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6"/>
            <p:cNvSpPr txBox="1"/>
            <p:nvPr/>
          </p:nvSpPr>
          <p:spPr>
            <a:xfrm>
              <a:off x="4038599" y="652047"/>
              <a:ext cx="1296765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PAGE NO.: 02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" name="Google Shape;115;p6"/>
          <p:cNvSpPr txBox="1"/>
          <p:nvPr/>
        </p:nvSpPr>
        <p:spPr>
          <a:xfrm>
            <a:off x="41238" y="66122"/>
            <a:ext cx="326411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OF THE APPLICANT: 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5D4244F-F833-A43A-0D40-B10A43C7060D}"/>
              </a:ext>
            </a:extLst>
          </p:cNvPr>
          <p:cNvGrpSpPr/>
          <p:nvPr/>
        </p:nvGrpSpPr>
        <p:grpSpPr>
          <a:xfrm>
            <a:off x="252249" y="4130596"/>
            <a:ext cx="6995582" cy="3280300"/>
            <a:chOff x="252249" y="4130596"/>
            <a:chExt cx="6995582" cy="32803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B59524C-3CE8-1375-1639-92B6F6A4A5EC}"/>
                </a:ext>
              </a:extLst>
            </p:cNvPr>
            <p:cNvSpPr/>
            <p:nvPr/>
          </p:nvSpPr>
          <p:spPr>
            <a:xfrm>
              <a:off x="252249" y="4130596"/>
              <a:ext cx="1891861" cy="1087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CAMERA SENSOR </a:t>
              </a:r>
              <a:r>
                <a:rPr lang="en-US" b="1" u="sng" dirty="0">
                  <a:solidFill>
                    <a:schemeClr val="tx1"/>
                  </a:solidFill>
                </a:rPr>
                <a:t>101</a:t>
              </a:r>
              <a:r>
                <a:rPr lang="en-US" u="sng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D6706B4-4E2A-0956-3FD1-8CC65F501D17}"/>
                </a:ext>
              </a:extLst>
            </p:cNvPr>
            <p:cNvSpPr/>
            <p:nvPr/>
          </p:nvSpPr>
          <p:spPr>
            <a:xfrm>
              <a:off x="2750306" y="4130596"/>
              <a:ext cx="1891861" cy="10877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HOST PROCESSOR </a:t>
              </a:r>
              <a:r>
                <a:rPr lang="en-US" b="1" u="sng" dirty="0">
                  <a:solidFill>
                    <a:schemeClr val="tx1"/>
                  </a:solidFill>
                </a:rPr>
                <a:t>103</a:t>
              </a:r>
              <a:r>
                <a:rPr lang="en-US" u="sng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00F14A-FC8B-ECB4-7D47-50AFC04C2A85}"/>
                </a:ext>
              </a:extLst>
            </p:cNvPr>
            <p:cNvSpPr/>
            <p:nvPr/>
          </p:nvSpPr>
          <p:spPr>
            <a:xfrm>
              <a:off x="2002226" y="6323102"/>
              <a:ext cx="2367824" cy="10877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NETWORK </a:t>
              </a:r>
            </a:p>
            <a:p>
              <a:pPr algn="ctr"/>
              <a:r>
                <a:rPr lang="en-US" b="1" u="sng" dirty="0">
                  <a:solidFill>
                    <a:schemeClr val="tx1"/>
                  </a:solidFill>
                </a:rPr>
                <a:t>10</a:t>
              </a: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3A7CEB3-DB0B-6F8E-938D-F29BBCFAF4B3}"/>
                </a:ext>
              </a:extLst>
            </p:cNvPr>
            <p:cNvSpPr/>
            <p:nvPr/>
          </p:nvSpPr>
          <p:spPr>
            <a:xfrm>
              <a:off x="5355970" y="4130596"/>
              <a:ext cx="1891861" cy="1087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NEURAL PROCESSING UNIT</a:t>
              </a:r>
            </a:p>
            <a:p>
              <a:pPr algn="ctr"/>
              <a:r>
                <a:rPr lang="en-US" b="1" u="sng" dirty="0">
                  <a:solidFill>
                    <a:schemeClr val="tx1"/>
                  </a:solidFill>
                </a:rPr>
                <a:t>105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2386A41-2CB3-BE91-0991-F86C6C4A6B0F}"/>
                </a:ext>
              </a:extLst>
            </p:cNvPr>
            <p:cNvSpPr/>
            <p:nvPr/>
          </p:nvSpPr>
          <p:spPr>
            <a:xfrm>
              <a:off x="4843014" y="6299712"/>
              <a:ext cx="1891861" cy="10877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MEMORY</a:t>
              </a:r>
            </a:p>
            <a:p>
              <a:pPr algn="ctr"/>
              <a:r>
                <a:rPr lang="en-US" b="1" u="sng" dirty="0">
                  <a:solidFill>
                    <a:schemeClr val="tx1"/>
                  </a:solidFill>
                </a:rPr>
                <a:t>20</a:t>
              </a:r>
              <a:r>
                <a:rPr lang="en-US" u="sng" dirty="0">
                  <a:solidFill>
                    <a:schemeClr val="tx1"/>
                  </a:solidFill>
                </a:rPr>
                <a:t> 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8A09839-0425-E0A1-7D45-729BAB2960BA}"/>
                </a:ext>
              </a:extLst>
            </p:cNvPr>
            <p:cNvCxnSpPr>
              <a:stCxn id="3" idx="3"/>
              <a:endCxn id="4" idx="1"/>
            </p:cNvCxnSpPr>
            <p:nvPr/>
          </p:nvCxnSpPr>
          <p:spPr>
            <a:xfrm>
              <a:off x="2144110" y="4674493"/>
              <a:ext cx="60619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D451699-5FD0-E908-1554-DF42AC81357A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>
              <a:off x="3696237" y="5218390"/>
              <a:ext cx="0" cy="65799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050486F-3F20-208E-4EE0-6F12A72CA2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96236" y="5876381"/>
              <a:ext cx="60144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26BE496-D540-5633-6D44-6AB86BA0AB22}"/>
                </a:ext>
              </a:extLst>
            </p:cNvPr>
            <p:cNvCxnSpPr>
              <a:cxnSpLocks/>
            </p:cNvCxnSpPr>
            <p:nvPr/>
          </p:nvCxnSpPr>
          <p:spPr>
            <a:xfrm>
              <a:off x="4297680" y="5876381"/>
              <a:ext cx="149126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F30D614-845E-648F-C09B-45ECE96FEE53}"/>
                </a:ext>
              </a:extLst>
            </p:cNvPr>
            <p:cNvCxnSpPr>
              <a:endCxn id="7" idx="0"/>
            </p:cNvCxnSpPr>
            <p:nvPr/>
          </p:nvCxnSpPr>
          <p:spPr>
            <a:xfrm>
              <a:off x="5788944" y="5876381"/>
              <a:ext cx="1" cy="4233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51CDE65-F9AB-F9B2-3BE8-F0C935E5AE76}"/>
                </a:ext>
              </a:extLst>
            </p:cNvPr>
            <p:cNvCxnSpPr>
              <a:cxnSpLocks/>
              <a:stCxn id="4" idx="3"/>
              <a:endCxn id="6" idx="1"/>
            </p:cNvCxnSpPr>
            <p:nvPr/>
          </p:nvCxnSpPr>
          <p:spPr>
            <a:xfrm>
              <a:off x="4642167" y="4674493"/>
              <a:ext cx="7138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BF08EB1-0153-BD70-981A-807BF01D0152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>
              <a:off x="3186137" y="5235308"/>
              <a:ext cx="1" cy="10877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8" name="Google Shape;96;p1">
            <a:extLst>
              <a:ext uri="{FF2B5EF4-FFF2-40B4-BE49-F238E27FC236}">
                <a16:creationId xmlns:a16="http://schemas.microsoft.com/office/drawing/2014/main" id="{5D0A76CD-D17B-6ABC-2556-47EFCF219131}"/>
              </a:ext>
            </a:extLst>
          </p:cNvPr>
          <p:cNvSpPr txBox="1"/>
          <p:nvPr/>
        </p:nvSpPr>
        <p:spPr>
          <a:xfrm>
            <a:off x="3510389" y="8068888"/>
            <a:ext cx="922919" cy="32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275" tIns="37125" rIns="74275" bIns="37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FIG.1B</a:t>
            </a:r>
            <a:endParaRPr lang="en-US"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"/>
          <p:cNvGrpSpPr/>
          <p:nvPr/>
        </p:nvGrpSpPr>
        <p:grpSpPr>
          <a:xfrm>
            <a:off x="4572000" y="18510"/>
            <a:ext cx="2892575" cy="609601"/>
            <a:chOff x="3962400" y="381000"/>
            <a:chExt cx="2179507" cy="609601"/>
          </a:xfrm>
        </p:grpSpPr>
        <p:sp>
          <p:nvSpPr>
            <p:cNvPr id="144" name="Google Shape;144;p2"/>
            <p:cNvSpPr txBox="1"/>
            <p:nvPr/>
          </p:nvSpPr>
          <p:spPr>
            <a:xfrm>
              <a:off x="3962400" y="381000"/>
              <a:ext cx="217950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TOTAL NO. OF PAGES:08</a:t>
              </a:r>
              <a:endParaRPr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45" name="Google Shape;145;p2"/>
            <p:cNvSpPr txBox="1"/>
            <p:nvPr/>
          </p:nvSpPr>
          <p:spPr>
            <a:xfrm>
              <a:off x="4038599" y="652047"/>
              <a:ext cx="166584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PAGE NO.: 03</a:t>
              </a:r>
              <a:endParaRPr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146" name="Google Shape;146;p2"/>
          <p:cNvSpPr txBox="1"/>
          <p:nvPr/>
        </p:nvSpPr>
        <p:spPr>
          <a:xfrm>
            <a:off x="41238" y="66122"/>
            <a:ext cx="326411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NAME OF THE APPLICANT: 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E836699-EDB4-B27C-90AA-DBDA34CEB7FE}"/>
              </a:ext>
            </a:extLst>
          </p:cNvPr>
          <p:cNvGrpSpPr/>
          <p:nvPr/>
        </p:nvGrpSpPr>
        <p:grpSpPr>
          <a:xfrm>
            <a:off x="1661968" y="788276"/>
            <a:ext cx="5027249" cy="9222949"/>
            <a:chOff x="1658099" y="-207128"/>
            <a:chExt cx="5027249" cy="931804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6BEF02C-B823-ABD7-D761-D32886E123B9}"/>
                </a:ext>
              </a:extLst>
            </p:cNvPr>
            <p:cNvGrpSpPr/>
            <p:nvPr/>
          </p:nvGrpSpPr>
          <p:grpSpPr>
            <a:xfrm>
              <a:off x="1658099" y="-207128"/>
              <a:ext cx="5027249" cy="9102484"/>
              <a:chOff x="1649487" y="-664741"/>
              <a:chExt cx="5027249" cy="9102484"/>
            </a:xfrm>
          </p:grpSpPr>
          <p:grpSp>
            <p:nvGrpSpPr>
              <p:cNvPr id="148" name="Google Shape;148;p2"/>
              <p:cNvGrpSpPr/>
              <p:nvPr/>
            </p:nvGrpSpPr>
            <p:grpSpPr>
              <a:xfrm>
                <a:off x="1649487" y="86737"/>
                <a:ext cx="5027249" cy="8351006"/>
                <a:chOff x="458206" y="938392"/>
                <a:chExt cx="6838478" cy="8558300"/>
              </a:xfrm>
            </p:grpSpPr>
            <p:grpSp>
              <p:nvGrpSpPr>
                <p:cNvPr id="149" name="Google Shape;149;p2"/>
                <p:cNvGrpSpPr/>
                <p:nvPr/>
              </p:nvGrpSpPr>
              <p:grpSpPr>
                <a:xfrm>
                  <a:off x="458206" y="938392"/>
                  <a:ext cx="6838478" cy="7529838"/>
                  <a:chOff x="553325" y="1150460"/>
                  <a:chExt cx="6541175" cy="8010653"/>
                </a:xfrm>
              </p:grpSpPr>
              <p:sp>
                <p:nvSpPr>
                  <p:cNvPr id="150" name="Google Shape;150;p2"/>
                  <p:cNvSpPr/>
                  <p:nvPr/>
                </p:nvSpPr>
                <p:spPr>
                  <a:xfrm>
                    <a:off x="553326" y="1150460"/>
                    <a:ext cx="5617986" cy="1786600"/>
                  </a:xfrm>
                  <a:prstGeom prst="rect">
                    <a:avLst/>
                  </a:prstGeom>
                  <a:solidFill>
                    <a:schemeClr val="lt1"/>
                  </a:solidFill>
                  <a:ln w="2540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lvl="0" algn="ctr"/>
                    <a:r>
                      <a:rPr lang="en-US" sz="1000" dirty="0"/>
                      <a:t>RECEIVING, AT A HOST PROCESSOR</a:t>
                    </a:r>
                    <a:r>
                      <a:rPr lang="en-US" sz="1000" u="sng" dirty="0"/>
                      <a:t> </a:t>
                    </a:r>
                    <a:r>
                      <a:rPr lang="en-US" sz="1000" b="1" u="sng" dirty="0"/>
                      <a:t>103 </a:t>
                    </a:r>
                    <a:r>
                      <a:rPr lang="en-US" sz="1000" dirty="0"/>
                      <a:t>HAVING A PLURALITY OF PROCESSING CORES, A SEQUENCE OF VIDEO FRAMES FROM A CAMERA SENSOR </a:t>
                    </a:r>
                    <a:r>
                      <a:rPr lang="en-US" sz="1000" b="1" u="sng" dirty="0"/>
                      <a:t>101</a:t>
                    </a:r>
                    <a:r>
                      <a:rPr lang="en-US" sz="1000" dirty="0"/>
                      <a:t> OVER A SERIAL CAMERA INTERFACE</a:t>
                    </a:r>
                    <a:endParaRPr lang="en-US" sz="1000" i="0" u="none" strike="noStrike" cap="none" dirty="0">
                      <a:solidFill>
                        <a:schemeClr val="dk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endParaRPr>
                  </a:p>
                </p:txBody>
              </p:sp>
              <p:cxnSp>
                <p:nvCxnSpPr>
                  <p:cNvPr id="151" name="Google Shape;151;p2"/>
                  <p:cNvCxnSpPr>
                    <a:cxnSpLocks/>
                    <a:stCxn id="150" idx="2"/>
                    <a:endCxn id="152" idx="0"/>
                  </p:cNvCxnSpPr>
                  <p:nvPr/>
                </p:nvCxnSpPr>
                <p:spPr>
                  <a:xfrm flipH="1">
                    <a:off x="3362318" y="2937060"/>
                    <a:ext cx="1" cy="294263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152" name="Google Shape;152;p2"/>
                  <p:cNvSpPr/>
                  <p:nvPr/>
                </p:nvSpPr>
                <p:spPr>
                  <a:xfrm>
                    <a:off x="553325" y="3231323"/>
                    <a:ext cx="5617986" cy="1306957"/>
                  </a:xfrm>
                  <a:prstGeom prst="rect">
                    <a:avLst/>
                  </a:prstGeom>
                  <a:solidFill>
                    <a:schemeClr val="lt1"/>
                  </a:solidFill>
                  <a:ln w="2540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lvl="0" algn="ctr"/>
                    <a:r>
                      <a:rPr lang="en-US" sz="1000" dirty="0"/>
                      <a:t>HOSTING, ON A NEURAL PROCESSING UNIT </a:t>
                    </a:r>
                    <a:r>
                      <a:rPr lang="en-US" sz="1000" b="1" u="sng" dirty="0"/>
                      <a:t>105</a:t>
                    </a:r>
                    <a:r>
                      <a:rPr lang="en-US" sz="1000" b="1" dirty="0"/>
                      <a:t> </a:t>
                    </a:r>
                    <a:r>
                      <a:rPr lang="en-US" sz="1000" dirty="0"/>
                      <a:t>COUPLED TO THE HOST PROCESSOR</a:t>
                    </a:r>
                    <a:r>
                      <a:rPr lang="en-US" sz="1000" b="1" dirty="0"/>
                      <a:t> 103 </a:t>
                    </a:r>
                    <a:r>
                      <a:rPr lang="en-US" sz="1000" dirty="0"/>
                      <a:t>OVER A PERIPHERAL COMPONENT INTERCONNECT LINK, A PLURALITY OF NEURAL NETWORKS SIMULTANEOUSLY ON A SINGLE VIRTUAL DEVICE PROVIDED THEREON, THE PLURALITY OF NEURAL NETWORKS COMPRISING A PRIMARY DETECTION NEURAL NETWORK </a:t>
                    </a:r>
                    <a:r>
                      <a:rPr lang="en-US" sz="1000" b="1" dirty="0"/>
                      <a:t>107</a:t>
                    </a:r>
                    <a:r>
                      <a:rPr lang="en-US" sz="1000" dirty="0"/>
                      <a:t> AND AT LEAST ONE SECONDARY VERIFICATION NEURAL NETWORK </a:t>
                    </a:r>
                    <a:r>
                      <a:rPr lang="en-US" sz="1000" b="1" u="sng" dirty="0"/>
                      <a:t>109</a:t>
                    </a:r>
                    <a:endParaRPr lang="en-US" sz="1000" b="1" i="0" u="sng" strike="noStrike" cap="none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endParaRPr>
                  </a:p>
                </p:txBody>
              </p:sp>
              <p:cxnSp>
                <p:nvCxnSpPr>
                  <p:cNvPr id="153" name="Google Shape;153;p2"/>
                  <p:cNvCxnSpPr>
                    <a:cxnSpLocks/>
                    <a:stCxn id="154" idx="2"/>
                    <a:endCxn id="155" idx="0"/>
                  </p:cNvCxnSpPr>
                  <p:nvPr/>
                </p:nvCxnSpPr>
                <p:spPr>
                  <a:xfrm>
                    <a:off x="3362318" y="6688193"/>
                    <a:ext cx="3" cy="450239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triangle" w="med" len="med"/>
                  </a:ln>
                </p:spPr>
              </p:cxnSp>
              <p:cxnSp>
                <p:nvCxnSpPr>
                  <p:cNvPr id="156" name="Google Shape;156;p2"/>
                  <p:cNvCxnSpPr>
                    <a:cxnSpLocks/>
                    <a:stCxn id="152" idx="2"/>
                    <a:endCxn id="154" idx="0"/>
                  </p:cNvCxnSpPr>
                  <p:nvPr/>
                </p:nvCxnSpPr>
                <p:spPr>
                  <a:xfrm>
                    <a:off x="3362318" y="4538280"/>
                    <a:ext cx="0" cy="40022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154" name="Google Shape;154;p2"/>
                  <p:cNvSpPr/>
                  <p:nvPr/>
                </p:nvSpPr>
                <p:spPr>
                  <a:xfrm>
                    <a:off x="553325" y="4938504"/>
                    <a:ext cx="5617986" cy="1749689"/>
                  </a:xfrm>
                  <a:prstGeom prst="rect">
                    <a:avLst/>
                  </a:prstGeom>
                  <a:solidFill>
                    <a:schemeClr val="lt1"/>
                  </a:solidFill>
                  <a:ln w="2540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lvl="0" algn="ctr"/>
                    <a:r>
                      <a:rPr lang="en-US" sz="1000" dirty="0"/>
                      <a:t>PROCESSING, BY THE PRIMARY DETECTION NEURAL NETWORK </a:t>
                    </a:r>
                    <a:r>
                      <a:rPr lang="en-US" sz="1000" b="1" u="sng" dirty="0"/>
                      <a:t>107</a:t>
                    </a:r>
                    <a:r>
                      <a:rPr lang="en-US" sz="1000" dirty="0"/>
                      <a:t>, EACH OF THE VIDEO FRAMES RECEIVED FROM THE HOST PROCESSOR </a:t>
                    </a:r>
                    <a:r>
                      <a:rPr lang="en-US" sz="1000" b="1" u="sng" dirty="0"/>
                      <a:t>103</a:t>
                    </a:r>
                    <a:r>
                      <a:rPr lang="en-US" sz="1000" dirty="0"/>
                      <a:t> TO GENERATE, FOR EACH VIDEO FRAME, A BOUNDING BOX, A CLASS LABEL, AND A CONFIDENCE VALUE CORRESPONDING TO A DETECTED REGION OF INTEREST</a:t>
                    </a:r>
                    <a:endParaRPr lang="en-US" sz="1000" b="1" i="0" u="sng" strike="noStrike" cap="none" dirty="0">
                      <a:solidFill>
                        <a:schemeClr val="dk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endParaRPr>
                  </a:p>
                </p:txBody>
              </p:sp>
              <p:sp>
                <p:nvSpPr>
                  <p:cNvPr id="155" name="Google Shape;155;p2"/>
                  <p:cNvSpPr/>
                  <p:nvPr/>
                </p:nvSpPr>
                <p:spPr>
                  <a:xfrm>
                    <a:off x="553328" y="7138433"/>
                    <a:ext cx="5617986" cy="2022680"/>
                  </a:xfrm>
                  <a:prstGeom prst="rect">
                    <a:avLst/>
                  </a:prstGeom>
                  <a:solidFill>
                    <a:schemeClr val="lt1"/>
                  </a:solidFill>
                  <a:ln w="2540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lvl="0" algn="ctr"/>
                    <a:r>
                      <a:rPr lang="en-US" sz="1000" dirty="0"/>
                      <a:t>FORWARDING, BY THE HOST PROCESSOR  </a:t>
                    </a:r>
                    <a:r>
                      <a:rPr lang="en-US" sz="1000" b="1" u="sng" dirty="0"/>
                      <a:t>103</a:t>
                    </a:r>
                    <a:r>
                      <a:rPr lang="en-US" sz="1000" dirty="0"/>
                      <a:t>, A CROPPED IMAGE REGION CORRESPONDING TO THE DETECTED REGION OF INTEREST TO A BOUNDED QUEUE DISPOSED BETWEEN THE HOST PROCESSOR </a:t>
                    </a:r>
                    <a:r>
                      <a:rPr lang="en-US" sz="1000" b="1" dirty="0"/>
                      <a:t>103</a:t>
                    </a:r>
                    <a:r>
                      <a:rPr lang="en-US" sz="1000" dirty="0"/>
                      <a:t> AND THE AT LEAST ONE SECONDARY VERIFICATION NEURAL NETWORK </a:t>
                    </a:r>
                    <a:r>
                      <a:rPr lang="en-US" sz="1000" b="1" u="sng" dirty="0"/>
                      <a:t>109</a:t>
                    </a:r>
                    <a:endParaRPr lang="en-US" sz="1000" b="1" i="0" u="sng" strike="noStrike" cap="none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endParaRPr>
                  </a:p>
                </p:txBody>
              </p:sp>
              <p:grpSp>
                <p:nvGrpSpPr>
                  <p:cNvPr id="157" name="Google Shape;157;p2"/>
                  <p:cNvGrpSpPr/>
                  <p:nvPr/>
                </p:nvGrpSpPr>
                <p:grpSpPr>
                  <a:xfrm>
                    <a:off x="6171311" y="5813349"/>
                    <a:ext cx="923189" cy="740440"/>
                    <a:chOff x="6163892" y="1454060"/>
                    <a:chExt cx="923189" cy="740440"/>
                  </a:xfrm>
                </p:grpSpPr>
                <p:cxnSp>
                  <p:nvCxnSpPr>
                    <p:cNvPr id="158" name="Google Shape;158;p2"/>
                    <p:cNvCxnSpPr>
                      <a:cxnSpLocks/>
                      <a:stCxn id="154" idx="3"/>
                      <a:endCxn id="159" idx="1"/>
                    </p:cNvCxnSpPr>
                    <p:nvPr/>
                  </p:nvCxnSpPr>
                  <p:spPr>
                    <a:xfrm>
                      <a:off x="6163892" y="1454060"/>
                      <a:ext cx="214228" cy="604856"/>
                    </a:xfrm>
                    <a:prstGeom prst="curvedConnector3">
                      <a:avLst>
                        <a:gd name="adj1" fmla="val 50000"/>
                      </a:avLst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triangle" w="med" len="med"/>
                    </a:ln>
                  </p:spPr>
                </p:cxnSp>
                <p:sp>
                  <p:nvSpPr>
                    <p:cNvPr id="159" name="Google Shape;159;p2"/>
                    <p:cNvSpPr txBox="1"/>
                    <p:nvPr/>
                  </p:nvSpPr>
                  <p:spPr>
                    <a:xfrm>
                      <a:off x="6378120" y="1923331"/>
                      <a:ext cx="708961" cy="27116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000" b="1" i="0" u="sng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305</a:t>
                      </a:r>
                    </a:p>
                  </p:txBody>
                </p:sp>
              </p:grpSp>
              <p:sp>
                <p:nvSpPr>
                  <p:cNvPr id="162" name="Google Shape;162;p2"/>
                  <p:cNvSpPr txBox="1"/>
                  <p:nvPr/>
                </p:nvSpPr>
                <p:spPr>
                  <a:xfrm>
                    <a:off x="6372115" y="4366411"/>
                    <a:ext cx="708963" cy="27116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rPr lang="en-US" sz="1000" b="1" i="0" u="sng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rPr>
                      <a:t>303</a:t>
                    </a:r>
                  </a:p>
                </p:txBody>
              </p:sp>
              <p:grpSp>
                <p:nvGrpSpPr>
                  <p:cNvPr id="163" name="Google Shape;163;p2"/>
                  <p:cNvGrpSpPr/>
                  <p:nvPr/>
                </p:nvGrpSpPr>
                <p:grpSpPr>
                  <a:xfrm>
                    <a:off x="6171312" y="2043760"/>
                    <a:ext cx="923188" cy="820773"/>
                    <a:chOff x="6177315" y="615523"/>
                    <a:chExt cx="923188" cy="820773"/>
                  </a:xfrm>
                </p:grpSpPr>
                <p:cxnSp>
                  <p:nvCxnSpPr>
                    <p:cNvPr id="164" name="Google Shape;164;p2"/>
                    <p:cNvCxnSpPr>
                      <a:cxnSpLocks/>
                      <a:stCxn id="150" idx="3"/>
                      <a:endCxn id="165" idx="1"/>
                    </p:cNvCxnSpPr>
                    <p:nvPr/>
                  </p:nvCxnSpPr>
                  <p:spPr>
                    <a:xfrm>
                      <a:off x="6177315" y="615523"/>
                      <a:ext cx="200803" cy="685189"/>
                    </a:xfrm>
                    <a:prstGeom prst="curvedConnector3">
                      <a:avLst>
                        <a:gd name="adj1" fmla="val 50000"/>
                      </a:avLst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triangle" w="med" len="med"/>
                    </a:ln>
                  </p:spPr>
                </p:cxnSp>
                <p:sp>
                  <p:nvSpPr>
                    <p:cNvPr id="165" name="Google Shape;165;p2"/>
                    <p:cNvSpPr txBox="1"/>
                    <p:nvPr/>
                  </p:nvSpPr>
                  <p:spPr>
                    <a:xfrm>
                      <a:off x="6378118" y="1165127"/>
                      <a:ext cx="722385" cy="27116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000" b="1" i="0" u="sng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301</a:t>
                      </a:r>
                    </a:p>
                  </p:txBody>
                </p:sp>
              </p:grpSp>
              <p:grpSp>
                <p:nvGrpSpPr>
                  <p:cNvPr id="166" name="Google Shape;166;p2"/>
                  <p:cNvGrpSpPr/>
                  <p:nvPr/>
                </p:nvGrpSpPr>
                <p:grpSpPr>
                  <a:xfrm>
                    <a:off x="6171314" y="8149773"/>
                    <a:ext cx="909764" cy="921710"/>
                    <a:chOff x="6171314" y="2349156"/>
                    <a:chExt cx="909764" cy="921710"/>
                  </a:xfrm>
                </p:grpSpPr>
                <p:cxnSp>
                  <p:nvCxnSpPr>
                    <p:cNvPr id="167" name="Google Shape;167;p2"/>
                    <p:cNvCxnSpPr>
                      <a:cxnSpLocks/>
                      <a:stCxn id="155" idx="3"/>
                      <a:endCxn id="168" idx="1"/>
                    </p:cNvCxnSpPr>
                    <p:nvPr/>
                  </p:nvCxnSpPr>
                  <p:spPr>
                    <a:xfrm>
                      <a:off x="6171314" y="2349156"/>
                      <a:ext cx="200804" cy="786126"/>
                    </a:xfrm>
                    <a:prstGeom prst="curvedConnector3">
                      <a:avLst>
                        <a:gd name="adj1" fmla="val 50000"/>
                      </a:avLst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triangle" w="med" len="med"/>
                    </a:ln>
                  </p:spPr>
                </p:cxnSp>
                <p:sp>
                  <p:nvSpPr>
                    <p:cNvPr id="168" name="Google Shape;168;p2"/>
                    <p:cNvSpPr txBox="1"/>
                    <p:nvPr/>
                  </p:nvSpPr>
                  <p:spPr>
                    <a:xfrm>
                      <a:off x="6372118" y="2999697"/>
                      <a:ext cx="708960" cy="27116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000" b="1" i="0" u="sng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307</a:t>
                      </a:r>
                    </a:p>
                  </p:txBody>
                </p:sp>
              </p:grpSp>
            </p:grpSp>
            <p:sp>
              <p:nvSpPr>
                <p:cNvPr id="169" name="Google Shape;169;p2"/>
                <p:cNvSpPr txBox="1"/>
                <p:nvPr/>
              </p:nvSpPr>
              <p:spPr>
                <a:xfrm>
                  <a:off x="1230404" y="9241799"/>
                  <a:ext cx="1112095" cy="2548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-US" sz="1000" b="1" i="0" u="none" strike="noStrike" cap="none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rPr>
                    <a:t>FIG.2</a:t>
                  </a:r>
                </a:p>
              </p:txBody>
            </p:sp>
          </p:grpSp>
          <p:cxnSp>
            <p:nvCxnSpPr>
              <p:cNvPr id="3" name="Connector: Curved 2">
                <a:extLst>
                  <a:ext uri="{FF2B5EF4-FFF2-40B4-BE49-F238E27FC236}">
                    <a16:creationId xmlns:a16="http://schemas.microsoft.com/office/drawing/2014/main" id="{3FCBB704-0657-6F04-FD7F-89AB98A3D1C9}"/>
                  </a:ext>
                </a:extLst>
              </p:cNvPr>
              <p:cNvCxnSpPr>
                <a:cxnSpLocks/>
                <a:stCxn id="7" idx="2"/>
              </p:cNvCxnSpPr>
              <p:nvPr/>
            </p:nvCxnSpPr>
            <p:spPr>
              <a:xfrm rot="16200000" flipH="1">
                <a:off x="2460495" y="-381760"/>
                <a:ext cx="456887" cy="388361"/>
              </a:xfrm>
              <a:prstGeom prst="curvedConnector3">
                <a:avLst>
                  <a:gd name="adj1" fmla="val 50000"/>
                </a:avLst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Google Shape;165;p2">
                <a:extLst>
                  <a:ext uri="{FF2B5EF4-FFF2-40B4-BE49-F238E27FC236}">
                    <a16:creationId xmlns:a16="http://schemas.microsoft.com/office/drawing/2014/main" id="{0E03EAD8-20F4-869D-112F-BBE87DAE1422}"/>
                  </a:ext>
                </a:extLst>
              </p:cNvPr>
              <p:cNvSpPr txBox="1"/>
              <p:nvPr/>
            </p:nvSpPr>
            <p:spPr>
              <a:xfrm>
                <a:off x="2217162" y="-664741"/>
                <a:ext cx="555192" cy="2487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000" b="1" i="0" u="sng" strike="noStrike" cap="none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</a:rPr>
                  <a:t>300</a:t>
                </a:r>
              </a:p>
            </p:txBody>
          </p:sp>
        </p:grpSp>
        <p:cxnSp>
          <p:nvCxnSpPr>
            <p:cNvPr id="11" name="Google Shape;153;p2">
              <a:extLst>
                <a:ext uri="{FF2B5EF4-FFF2-40B4-BE49-F238E27FC236}">
                  <a16:creationId xmlns:a16="http://schemas.microsoft.com/office/drawing/2014/main" id="{DD162C11-2B3B-E944-35C5-4505D51EC614}"/>
                </a:ext>
              </a:extLst>
            </p:cNvPr>
            <p:cNvCxnSpPr>
              <a:cxnSpLocks/>
              <a:stCxn id="155" idx="2"/>
              <a:endCxn id="41" idx="0"/>
            </p:cNvCxnSpPr>
            <p:nvPr/>
          </p:nvCxnSpPr>
          <p:spPr>
            <a:xfrm>
              <a:off x="3816965" y="7891804"/>
              <a:ext cx="8910" cy="62906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4209AD3-6027-881E-031C-9F05559B729C}"/>
                </a:ext>
              </a:extLst>
            </p:cNvPr>
            <p:cNvSpPr/>
            <p:nvPr/>
          </p:nvSpPr>
          <p:spPr>
            <a:xfrm>
              <a:off x="3558289" y="8520873"/>
              <a:ext cx="535172" cy="59003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cxnSp>
        <p:nvCxnSpPr>
          <p:cNvPr id="6" name="Google Shape;164;p2">
            <a:extLst>
              <a:ext uri="{FF2B5EF4-FFF2-40B4-BE49-F238E27FC236}">
                <a16:creationId xmlns:a16="http://schemas.microsoft.com/office/drawing/2014/main" id="{DAD82DD1-913C-017F-5070-B9BC0C58BE5B}"/>
              </a:ext>
            </a:extLst>
          </p:cNvPr>
          <p:cNvCxnSpPr>
            <a:cxnSpLocks/>
          </p:cNvCxnSpPr>
          <p:nvPr/>
        </p:nvCxnSpPr>
        <p:spPr>
          <a:xfrm>
            <a:off x="5990014" y="3896015"/>
            <a:ext cx="154328" cy="673359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B7FEEDAC-94B4-5157-914C-477C93F6B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">
            <a:extLst>
              <a:ext uri="{FF2B5EF4-FFF2-40B4-BE49-F238E27FC236}">
                <a16:creationId xmlns:a16="http://schemas.microsoft.com/office/drawing/2014/main" id="{259FBFED-8F11-4A77-6D2E-A788339B1D57}"/>
              </a:ext>
            </a:extLst>
          </p:cNvPr>
          <p:cNvGrpSpPr/>
          <p:nvPr/>
        </p:nvGrpSpPr>
        <p:grpSpPr>
          <a:xfrm>
            <a:off x="4572000" y="18510"/>
            <a:ext cx="2892575" cy="609601"/>
            <a:chOff x="3962400" y="381000"/>
            <a:chExt cx="2179507" cy="609601"/>
          </a:xfrm>
        </p:grpSpPr>
        <p:sp>
          <p:nvSpPr>
            <p:cNvPr id="144" name="Google Shape;144;p2">
              <a:extLst>
                <a:ext uri="{FF2B5EF4-FFF2-40B4-BE49-F238E27FC236}">
                  <a16:creationId xmlns:a16="http://schemas.microsoft.com/office/drawing/2014/main" id="{7178518C-DFE7-0D4D-9AF0-92F5E82BAD1B}"/>
                </a:ext>
              </a:extLst>
            </p:cNvPr>
            <p:cNvSpPr txBox="1"/>
            <p:nvPr/>
          </p:nvSpPr>
          <p:spPr>
            <a:xfrm>
              <a:off x="3962400" y="381000"/>
              <a:ext cx="217950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TOTAL NO. OF PAGES:08</a:t>
              </a:r>
              <a:endParaRPr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45" name="Google Shape;145;p2">
              <a:extLst>
                <a:ext uri="{FF2B5EF4-FFF2-40B4-BE49-F238E27FC236}">
                  <a16:creationId xmlns:a16="http://schemas.microsoft.com/office/drawing/2014/main" id="{246EA4C3-2374-7B05-B44A-FF279D6D3DD8}"/>
                </a:ext>
              </a:extLst>
            </p:cNvPr>
            <p:cNvSpPr txBox="1"/>
            <p:nvPr/>
          </p:nvSpPr>
          <p:spPr>
            <a:xfrm>
              <a:off x="4038599" y="652047"/>
              <a:ext cx="166584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PAGE NO.: 04</a:t>
              </a:r>
              <a:endParaRPr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146" name="Google Shape;146;p2">
            <a:extLst>
              <a:ext uri="{FF2B5EF4-FFF2-40B4-BE49-F238E27FC236}">
                <a16:creationId xmlns:a16="http://schemas.microsoft.com/office/drawing/2014/main" id="{EDDC0B55-6788-87C2-53BD-C29E583D3FEE}"/>
              </a:ext>
            </a:extLst>
          </p:cNvPr>
          <p:cNvSpPr txBox="1"/>
          <p:nvPr/>
        </p:nvSpPr>
        <p:spPr>
          <a:xfrm>
            <a:off x="41238" y="66122"/>
            <a:ext cx="326411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NAME OF THE APPLICANT: 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0950BAA-3C8B-5D03-4AD0-74ECFE9F31AD}"/>
              </a:ext>
            </a:extLst>
          </p:cNvPr>
          <p:cNvGrpSpPr/>
          <p:nvPr/>
        </p:nvGrpSpPr>
        <p:grpSpPr>
          <a:xfrm>
            <a:off x="1541926" y="628111"/>
            <a:ext cx="4748515" cy="9834470"/>
            <a:chOff x="1541926" y="675683"/>
            <a:chExt cx="4748515" cy="9319608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F1687B3-164E-BAD9-85DB-5929A3859E2D}"/>
                </a:ext>
              </a:extLst>
            </p:cNvPr>
            <p:cNvGrpSpPr/>
            <p:nvPr/>
          </p:nvGrpSpPr>
          <p:grpSpPr>
            <a:xfrm>
              <a:off x="1551156" y="675683"/>
              <a:ext cx="4739285" cy="9319608"/>
              <a:chOff x="1724576" y="1155027"/>
              <a:chExt cx="4920059" cy="10244493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3C81A23-A51E-D75F-5791-A86D5C0B747E}"/>
                  </a:ext>
                </a:extLst>
              </p:cNvPr>
              <p:cNvGrpSpPr/>
              <p:nvPr/>
            </p:nvGrpSpPr>
            <p:grpSpPr>
              <a:xfrm>
                <a:off x="1724576" y="1263542"/>
                <a:ext cx="4920059" cy="10135978"/>
                <a:chOff x="1640872" y="-700730"/>
                <a:chExt cx="5066934" cy="10732432"/>
              </a:xfrm>
            </p:grpSpPr>
            <p:grpSp>
              <p:nvGrpSpPr>
                <p:cNvPr id="148" name="Google Shape;148;p2">
                  <a:extLst>
                    <a:ext uri="{FF2B5EF4-FFF2-40B4-BE49-F238E27FC236}">
                      <a16:creationId xmlns:a16="http://schemas.microsoft.com/office/drawing/2014/main" id="{EDF6BE1B-7425-8774-BBDF-EC591C5EEB11}"/>
                    </a:ext>
                  </a:extLst>
                </p:cNvPr>
                <p:cNvGrpSpPr/>
                <p:nvPr/>
              </p:nvGrpSpPr>
              <p:grpSpPr>
                <a:xfrm>
                  <a:off x="1640872" y="-6386"/>
                  <a:ext cx="5066934" cy="10038088"/>
                  <a:chOff x="446488" y="842958"/>
                  <a:chExt cx="6892459" cy="10287263"/>
                </a:xfrm>
              </p:grpSpPr>
              <p:grpSp>
                <p:nvGrpSpPr>
                  <p:cNvPr id="149" name="Google Shape;149;p2">
                    <a:extLst>
                      <a:ext uri="{FF2B5EF4-FFF2-40B4-BE49-F238E27FC236}">
                        <a16:creationId xmlns:a16="http://schemas.microsoft.com/office/drawing/2014/main" id="{E030984E-0CCF-D38F-8DD2-56BAA407A0D4}"/>
                      </a:ext>
                    </a:extLst>
                  </p:cNvPr>
                  <p:cNvGrpSpPr/>
                  <p:nvPr/>
                </p:nvGrpSpPr>
                <p:grpSpPr>
                  <a:xfrm>
                    <a:off x="446488" y="842958"/>
                    <a:ext cx="6892459" cy="7888811"/>
                    <a:chOff x="542116" y="1048929"/>
                    <a:chExt cx="6592810" cy="8392548"/>
                  </a:xfrm>
                </p:grpSpPr>
                <p:sp>
                  <p:nvSpPr>
                    <p:cNvPr id="150" name="Google Shape;150;p2">
                      <a:extLst>
                        <a:ext uri="{FF2B5EF4-FFF2-40B4-BE49-F238E27FC236}">
                          <a16:creationId xmlns:a16="http://schemas.microsoft.com/office/drawing/2014/main" id="{F0F3AF9C-8DCF-82AC-CA81-DF8A3D72C5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6167" y="1048929"/>
                      <a:ext cx="5605144" cy="16581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254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lvl="0" algn="ctr"/>
                      <a:r>
                        <a:rPr lang="en-US" sz="1000" dirty="0"/>
                        <a:t>GENERATING, BY THE AT LEAST ONE SECONDARY VERIFICATION NEURAL NETWORK </a:t>
                      </a:r>
                      <a:r>
                        <a:rPr lang="en-US" sz="1000" b="1" u="sng" dirty="0"/>
                        <a:t>109</a:t>
                      </a:r>
                      <a:r>
                        <a:rPr lang="en-US" sz="1000" dirty="0"/>
                        <a:t>, A VERIFICATION OUTPUT FROM THE CROPPED IMAGE REGION, THE VERIFICATION OUTPUT COMPRISING (I) A BINARY SAFE-VERSUS-THREAT CLASSIFICATION OF THE CROPPED IMAGE REGION AND (II) A DEPTH-VARIANCE MEASURE INDICATIVE OF WHETHER THE CROPPED IMAGE REGION CORRESPONDS TO A THREE-DIMENSIONAL PHYSICAL SUBJECT OR TO A SUBSTANTIALLY PLANAR SURFACE</a:t>
                      </a:r>
                      <a:endParaRPr lang="en-US" sz="1000" i="0" u="sng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p:txBody>
                </p:sp>
                <p:cxnSp>
                  <p:nvCxnSpPr>
                    <p:cNvPr id="151" name="Google Shape;151;p2">
                      <a:extLst>
                        <a:ext uri="{FF2B5EF4-FFF2-40B4-BE49-F238E27FC236}">
                          <a16:creationId xmlns:a16="http://schemas.microsoft.com/office/drawing/2014/main" id="{E4D70581-54D0-F44F-B728-D6D800606AF9}"/>
                        </a:ext>
                      </a:extLst>
                    </p:cNvPr>
                    <p:cNvCxnSpPr>
                      <a:cxnSpLocks/>
                      <a:stCxn id="150" idx="2"/>
                      <a:endCxn id="152" idx="0"/>
                    </p:cNvCxnSpPr>
                    <p:nvPr/>
                  </p:nvCxnSpPr>
                  <p:spPr>
                    <a:xfrm flipH="1">
                      <a:off x="3362318" y="2707065"/>
                      <a:ext cx="6421" cy="367569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triangle" w="med" len="med"/>
                    </a:ln>
                  </p:spPr>
                </p:cxnSp>
                <p:sp>
                  <p:nvSpPr>
                    <p:cNvPr id="152" name="Google Shape;152;p2">
                      <a:extLst>
                        <a:ext uri="{FF2B5EF4-FFF2-40B4-BE49-F238E27FC236}">
                          <a16:creationId xmlns:a16="http://schemas.microsoft.com/office/drawing/2014/main" id="{E48AFEC9-8EFA-F5E7-2327-DFADF41DB4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3326" y="3074634"/>
                      <a:ext cx="5617985" cy="2117637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254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lvl="0" algn="ctr"/>
                      <a:r>
                        <a:rPr lang="en-US" sz="1000" dirty="0"/>
                        <a:t>DISCARDING, BY THE HOST PROCESSOR </a:t>
                      </a:r>
                      <a:r>
                        <a:rPr lang="en-US" sz="1000" b="1" u="sng" dirty="0"/>
                        <a:t>103</a:t>
                      </a:r>
                      <a:r>
                        <a:rPr lang="en-US" sz="1000" dirty="0"/>
                        <a:t>, AN INCOMING CROPPED IMAGE REGION UPON THE BOUNDED QUEUE REACHING A SPECIFIED CAPACITY, SUCH THAT PROCESSING OF THE SEQUENCE OF VIDEO FRAMES BY THE PRIMARY DETECTION NEURAL NETWORK </a:t>
                      </a:r>
                      <a:r>
                        <a:rPr lang="en-US" sz="1000" b="1" u="sng" dirty="0"/>
                        <a:t>107</a:t>
                      </a:r>
                      <a:r>
                        <a:rPr lang="en-US" sz="1000" dirty="0"/>
                        <a:t> PROCEEDS INDEPENDENTLY OF, AND WITHOUT BEING DELAYED BY, PROCESSING OF THE AT LEAST ONE SECONDARY VERIFICATION NEURAL NETWORK </a:t>
                      </a:r>
                      <a:r>
                        <a:rPr lang="en-US" sz="1000" b="1" u="sng" dirty="0"/>
                        <a:t>109</a:t>
                      </a:r>
                      <a:endParaRPr lang="en-US" sz="1000" i="0" u="sng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p:txBody>
                </p:sp>
                <p:cxnSp>
                  <p:nvCxnSpPr>
                    <p:cNvPr id="153" name="Google Shape;153;p2">
                      <a:extLst>
                        <a:ext uri="{FF2B5EF4-FFF2-40B4-BE49-F238E27FC236}">
                          <a16:creationId xmlns:a16="http://schemas.microsoft.com/office/drawing/2014/main" id="{622BC9A6-3474-B61B-9864-20C1EAFA64D7}"/>
                        </a:ext>
                      </a:extLst>
                    </p:cNvPr>
                    <p:cNvCxnSpPr>
                      <a:cxnSpLocks/>
                      <a:stCxn id="154" idx="2"/>
                      <a:endCxn id="155" idx="0"/>
                    </p:cNvCxnSpPr>
                    <p:nvPr/>
                  </p:nvCxnSpPr>
                  <p:spPr>
                    <a:xfrm>
                      <a:off x="3351108" y="7492685"/>
                      <a:ext cx="0" cy="231956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triangle" w="med" len="med"/>
                    </a:ln>
                  </p:spPr>
                </p:cxnSp>
                <p:cxnSp>
                  <p:nvCxnSpPr>
                    <p:cNvPr id="156" name="Google Shape;156;p2">
                      <a:extLst>
                        <a:ext uri="{FF2B5EF4-FFF2-40B4-BE49-F238E27FC236}">
                          <a16:creationId xmlns:a16="http://schemas.microsoft.com/office/drawing/2014/main" id="{843A7586-CF49-E754-2114-07A638AE33B5}"/>
                        </a:ext>
                      </a:extLst>
                    </p:cNvPr>
                    <p:cNvCxnSpPr>
                      <a:cxnSpLocks/>
                      <a:stCxn id="152" idx="2"/>
                      <a:endCxn id="154" idx="0"/>
                    </p:cNvCxnSpPr>
                    <p:nvPr/>
                  </p:nvCxnSpPr>
                  <p:spPr>
                    <a:xfrm flipH="1">
                      <a:off x="3351108" y="5192271"/>
                      <a:ext cx="11210" cy="414733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triangle" w="med" len="med"/>
                    </a:ln>
                  </p:spPr>
                </p:cxnSp>
                <p:sp>
                  <p:nvSpPr>
                    <p:cNvPr id="154" name="Google Shape;154;p2">
                      <a:extLst>
                        <a:ext uri="{FF2B5EF4-FFF2-40B4-BE49-F238E27FC236}">
                          <a16:creationId xmlns:a16="http://schemas.microsoft.com/office/drawing/2014/main" id="{55D0A84C-0540-7732-486D-F6102A4C78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2116" y="5607004"/>
                      <a:ext cx="5617985" cy="1885681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254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lvl="0" algn="ctr"/>
                      <a:r>
                        <a:rPr lang="en-US" sz="1000" dirty="0"/>
                        <a:t>ASSIGNING, BY THE HOST PROCESSOR</a:t>
                      </a:r>
                      <a:r>
                        <a:rPr lang="en-US" sz="1000" u="sng" dirty="0"/>
                        <a:t> </a:t>
                      </a:r>
                      <a:r>
                        <a:rPr lang="en-US" sz="1000" b="1" u="sng" dirty="0"/>
                        <a:t>103</a:t>
                      </a:r>
                      <a:r>
                        <a:rPr lang="en-US" sz="1000" u="sng" dirty="0"/>
                        <a:t> </a:t>
                      </a:r>
                      <a:r>
                        <a:rPr lang="en-US" sz="1000" dirty="0"/>
                        <a:t>THROUGH A CORE-AFFINITY SETTING, A FIRST ONE OF THE PLURALITY OF PROCESSING CORES TO RECEIPT OF THE VIDEO FRAMES FROM THE CAMERA SENSOR, A SECOND ONE OF THE PLURALITY OF PROCESSING CORES TO RETRIEVAL OF AN INFERENCE OUTPUT FROM THE NEURAL PROCESSING UNIT </a:t>
                      </a:r>
                      <a:r>
                        <a:rPr lang="en-US" sz="1000" b="1" u="sng" dirty="0"/>
                        <a:t>105</a:t>
                      </a:r>
                      <a:r>
                        <a:rPr lang="en-US" sz="1000" dirty="0"/>
                        <a:t>, AND AT LEAST A THIRD ONE OF THE PLURALITY OF PROCESSING CORES TO EXECUTION OF THE AT LEAST ONE SECONDARY VERIFICATION NEURAL NETWORK </a:t>
                      </a:r>
                      <a:r>
                        <a:rPr lang="en-US" sz="1000" b="1" u="sng" dirty="0"/>
                        <a:t>109</a:t>
                      </a:r>
                      <a:r>
                        <a:rPr lang="en-US" sz="1000" dirty="0"/>
                        <a:t> AND ONE OR MORE AUXILIARY PROCESSES</a:t>
                      </a:r>
                      <a:endParaRPr lang="en-US" sz="1000" b="1" i="0" u="sng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p:txBody>
                </p:sp>
                <p:sp>
                  <p:nvSpPr>
                    <p:cNvPr id="155" name="Google Shape;155;p2">
                      <a:extLst>
                        <a:ext uri="{FF2B5EF4-FFF2-40B4-BE49-F238E27FC236}">
                          <a16:creationId xmlns:a16="http://schemas.microsoft.com/office/drawing/2014/main" id="{18180E5B-035D-EEBA-DD77-A34AA1C899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2116" y="7724641"/>
                      <a:ext cx="5617985" cy="1547111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254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lvl="0" algn="ctr"/>
                      <a:r>
                        <a:rPr lang="en-US" sz="1000" dirty="0"/>
                        <a:t>GENERATING, BY THE HOST PROCESSOR </a:t>
                      </a:r>
                      <a:r>
                        <a:rPr lang="en-US" sz="1000" b="1" u="sng" dirty="0"/>
                        <a:t>105</a:t>
                      </a:r>
                      <a:r>
                        <a:rPr lang="en-US" sz="1000" dirty="0"/>
                        <a:t>, AN ALERT SIGNAL IN RESPONSE TO THE VERIFICATION OUTPUT CONFIRMING THE CLASSIFICATION ASSIGNED BY THE PRIMARY DETECTION NEURAL NETWORK </a:t>
                      </a:r>
                      <a:r>
                        <a:rPr lang="en-US" sz="1000" b="1" u="sng" dirty="0"/>
                        <a:t>107</a:t>
                      </a:r>
                      <a:r>
                        <a:rPr lang="en-US" sz="1000" dirty="0"/>
                        <a:t> OVER A PLURALITY OF CONSECUTIVE VIDEO FRAMES</a:t>
                      </a:r>
                      <a:endParaRPr lang="en-US" sz="1000" i="0" u="sng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p:txBody>
                </p:sp>
                <p:grpSp>
                  <p:nvGrpSpPr>
                    <p:cNvPr id="157" name="Google Shape;157;p2">
                      <a:extLst>
                        <a:ext uri="{FF2B5EF4-FFF2-40B4-BE49-F238E27FC236}">
                          <a16:creationId xmlns:a16="http://schemas.microsoft.com/office/drawing/2014/main" id="{05071AD6-8F08-DCD0-DF1A-816813614A3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60101" y="6549845"/>
                      <a:ext cx="974825" cy="919326"/>
                      <a:chOff x="6152682" y="2190556"/>
                      <a:chExt cx="974825" cy="919326"/>
                    </a:xfrm>
                  </p:grpSpPr>
                  <p:cxnSp>
                    <p:nvCxnSpPr>
                      <p:cNvPr id="158" name="Google Shape;158;p2">
                        <a:extLst>
                          <a:ext uri="{FF2B5EF4-FFF2-40B4-BE49-F238E27FC236}">
                            <a16:creationId xmlns:a16="http://schemas.microsoft.com/office/drawing/2014/main" id="{FF6B8EBD-8804-93F6-B6DA-CDDC81E76074}"/>
                          </a:ext>
                        </a:extLst>
                      </p:cNvPr>
                      <p:cNvCxnSpPr>
                        <a:cxnSpLocks/>
                        <a:stCxn id="154" idx="3"/>
                        <a:endCxn id="159" idx="1"/>
                      </p:cNvCxnSpPr>
                      <p:nvPr/>
                    </p:nvCxnSpPr>
                    <p:spPr>
                      <a:xfrm>
                        <a:off x="6152682" y="2190556"/>
                        <a:ext cx="265863" cy="763126"/>
                      </a:xfrm>
                      <a:prstGeom prst="curvedConnector3">
                        <a:avLst>
                          <a:gd name="adj1" fmla="val 50000"/>
                        </a:avLst>
                      </a:prstGeom>
                      <a:noFill/>
                      <a:ln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triangle" w="med" len="med"/>
                      </a:ln>
                    </p:spPr>
                  </p:cxnSp>
                  <p:sp>
                    <p:nvSpPr>
                      <p:cNvPr id="159" name="Google Shape;159;p2">
                        <a:extLst>
                          <a:ext uri="{FF2B5EF4-FFF2-40B4-BE49-F238E27FC236}">
                            <a16:creationId xmlns:a16="http://schemas.microsoft.com/office/drawing/2014/main" id="{7DCCBBBE-D370-CD39-3DB5-902EF785449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418545" y="2797482"/>
                        <a:ext cx="708962" cy="31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t" anchorCtr="0">
                        <a:sp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rPr lang="en-US" sz="1000" b="1" i="0" u="sng" strike="noStrike" cap="none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  <a:sym typeface="Arial"/>
                          </a:rPr>
                          <a:t>313</a:t>
                        </a:r>
                      </a:p>
                    </p:txBody>
                  </p:sp>
                </p:grpSp>
                <p:grpSp>
                  <p:nvGrpSpPr>
                    <p:cNvPr id="160" name="Google Shape;160;p2">
                      <a:extLst>
                        <a:ext uri="{FF2B5EF4-FFF2-40B4-BE49-F238E27FC236}">
                          <a16:creationId xmlns:a16="http://schemas.microsoft.com/office/drawing/2014/main" id="{88F25937-C977-AD36-7250-455CBE07AB1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71311" y="4133453"/>
                      <a:ext cx="929531" cy="832540"/>
                      <a:chOff x="6163892" y="1260249"/>
                      <a:chExt cx="929531" cy="832540"/>
                    </a:xfrm>
                  </p:grpSpPr>
                  <p:cxnSp>
                    <p:nvCxnSpPr>
                      <p:cNvPr id="161" name="Google Shape;161;p2">
                        <a:extLst>
                          <a:ext uri="{FF2B5EF4-FFF2-40B4-BE49-F238E27FC236}">
                            <a16:creationId xmlns:a16="http://schemas.microsoft.com/office/drawing/2014/main" id="{5455D704-04DA-062A-831D-755C1E662B14}"/>
                          </a:ext>
                        </a:extLst>
                      </p:cNvPr>
                      <p:cNvCxnSpPr>
                        <a:cxnSpLocks/>
                        <a:stCxn id="152" idx="3"/>
                        <a:endCxn id="162" idx="1"/>
                      </p:cNvCxnSpPr>
                      <p:nvPr/>
                    </p:nvCxnSpPr>
                    <p:spPr>
                      <a:xfrm>
                        <a:off x="6163892" y="1260249"/>
                        <a:ext cx="220568" cy="676341"/>
                      </a:xfrm>
                      <a:prstGeom prst="curvedConnector3">
                        <a:avLst>
                          <a:gd name="adj1" fmla="val 50000"/>
                        </a:avLst>
                      </a:prstGeom>
                      <a:noFill/>
                      <a:ln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triangle" w="med" len="med"/>
                      </a:ln>
                    </p:spPr>
                  </p:cxnSp>
                  <p:sp>
                    <p:nvSpPr>
                      <p:cNvPr id="162" name="Google Shape;162;p2">
                        <a:extLst>
                          <a:ext uri="{FF2B5EF4-FFF2-40B4-BE49-F238E27FC236}">
                            <a16:creationId xmlns:a16="http://schemas.microsoft.com/office/drawing/2014/main" id="{EA166005-5BC9-0FDF-24A6-8F90BDB7A08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384460" y="1780389"/>
                        <a:ext cx="708963" cy="31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t" anchorCtr="0">
                        <a:sp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rPr lang="en-US" sz="1000" b="1" i="0" u="sng" strike="noStrike" cap="none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  <a:sym typeface="Arial"/>
                          </a:rPr>
                          <a:t>311</a:t>
                        </a:r>
                      </a:p>
                    </p:txBody>
                  </p:sp>
                </p:grpSp>
                <p:grpSp>
                  <p:nvGrpSpPr>
                    <p:cNvPr id="163" name="Google Shape;163;p2">
                      <a:extLst>
                        <a:ext uri="{FF2B5EF4-FFF2-40B4-BE49-F238E27FC236}">
                          <a16:creationId xmlns:a16="http://schemas.microsoft.com/office/drawing/2014/main" id="{AE8150D5-3086-1415-6F04-1E2DC190A03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71311" y="1877997"/>
                      <a:ext cx="963615" cy="847792"/>
                      <a:chOff x="6177314" y="449760"/>
                      <a:chExt cx="963615" cy="847792"/>
                    </a:xfrm>
                  </p:grpSpPr>
                  <p:cxnSp>
                    <p:nvCxnSpPr>
                      <p:cNvPr id="164" name="Google Shape;164;p2">
                        <a:extLst>
                          <a:ext uri="{FF2B5EF4-FFF2-40B4-BE49-F238E27FC236}">
                            <a16:creationId xmlns:a16="http://schemas.microsoft.com/office/drawing/2014/main" id="{1AEE3979-D1C6-A18F-2A30-85867BBC2801}"/>
                          </a:ext>
                        </a:extLst>
                      </p:cNvPr>
                      <p:cNvCxnSpPr>
                        <a:cxnSpLocks/>
                        <a:stCxn id="150" idx="3"/>
                        <a:endCxn id="165" idx="1"/>
                      </p:cNvCxnSpPr>
                      <p:nvPr/>
                    </p:nvCxnSpPr>
                    <p:spPr>
                      <a:xfrm>
                        <a:off x="6177314" y="449760"/>
                        <a:ext cx="241232" cy="691593"/>
                      </a:xfrm>
                      <a:prstGeom prst="curvedConnector3">
                        <a:avLst>
                          <a:gd name="adj1" fmla="val 50000"/>
                        </a:avLst>
                      </a:prstGeom>
                      <a:noFill/>
                      <a:ln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triangle" w="med" len="med"/>
                      </a:ln>
                    </p:spPr>
                  </p:cxnSp>
                  <p:sp>
                    <p:nvSpPr>
                      <p:cNvPr id="165" name="Google Shape;165;p2">
                        <a:extLst>
                          <a:ext uri="{FF2B5EF4-FFF2-40B4-BE49-F238E27FC236}">
                            <a16:creationId xmlns:a16="http://schemas.microsoft.com/office/drawing/2014/main" id="{D4E6B4D4-8808-7128-346F-616CF780991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418546" y="985152"/>
                        <a:ext cx="722383" cy="31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t" anchorCtr="0">
                        <a:sp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rPr lang="en-US" sz="1000" b="1" i="0" u="sng" strike="noStrike" cap="none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  <a:sym typeface="Arial"/>
                          </a:rPr>
                          <a:t>309</a:t>
                        </a:r>
                      </a:p>
                    </p:txBody>
                  </p:sp>
                </p:grpSp>
                <p:grpSp>
                  <p:nvGrpSpPr>
                    <p:cNvPr id="166" name="Google Shape;166;p2">
                      <a:extLst>
                        <a:ext uri="{FF2B5EF4-FFF2-40B4-BE49-F238E27FC236}">
                          <a16:creationId xmlns:a16="http://schemas.microsoft.com/office/drawing/2014/main" id="{C10E4C10-3C0C-7DE1-CDA1-485922CB243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60101" y="8498196"/>
                      <a:ext cx="940743" cy="943281"/>
                      <a:chOff x="6160101" y="2697579"/>
                      <a:chExt cx="940743" cy="943281"/>
                    </a:xfrm>
                  </p:grpSpPr>
                  <p:cxnSp>
                    <p:nvCxnSpPr>
                      <p:cNvPr id="167" name="Google Shape;167;p2">
                        <a:extLst>
                          <a:ext uri="{FF2B5EF4-FFF2-40B4-BE49-F238E27FC236}">
                            <a16:creationId xmlns:a16="http://schemas.microsoft.com/office/drawing/2014/main" id="{107439DE-06F6-4976-B772-FE5F5A7F4B23}"/>
                          </a:ext>
                        </a:extLst>
                      </p:cNvPr>
                      <p:cNvCxnSpPr>
                        <a:cxnSpLocks/>
                        <a:stCxn id="155" idx="3"/>
                        <a:endCxn id="168" idx="1"/>
                      </p:cNvCxnSpPr>
                      <p:nvPr/>
                    </p:nvCxnSpPr>
                    <p:spPr>
                      <a:xfrm>
                        <a:off x="6160101" y="2697579"/>
                        <a:ext cx="231786" cy="787082"/>
                      </a:xfrm>
                      <a:prstGeom prst="curvedConnector3">
                        <a:avLst>
                          <a:gd name="adj1" fmla="val 50000"/>
                        </a:avLst>
                      </a:prstGeom>
                      <a:noFill/>
                      <a:ln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triangle" w="med" len="med"/>
                      </a:ln>
                    </p:spPr>
                  </p:cxnSp>
                  <p:sp>
                    <p:nvSpPr>
                      <p:cNvPr id="168" name="Google Shape;168;p2">
                        <a:extLst>
                          <a:ext uri="{FF2B5EF4-FFF2-40B4-BE49-F238E27FC236}">
                            <a16:creationId xmlns:a16="http://schemas.microsoft.com/office/drawing/2014/main" id="{CD58F323-DB46-C9E7-3848-A9EC63FC355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391887" y="3328460"/>
                        <a:ext cx="708957" cy="31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t" anchorCtr="0">
                        <a:sp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rPr lang="en-US" sz="1000" b="1" i="0" u="sng" strike="noStrike" cap="none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  <a:sym typeface="Arial"/>
                          </a:rPr>
                          <a:t>315</a:t>
                        </a:r>
                      </a:p>
                    </p:txBody>
                  </p:sp>
                </p:grpSp>
              </p:grpSp>
              <p:sp>
                <p:nvSpPr>
                  <p:cNvPr id="169" name="Google Shape;169;p2">
                    <a:extLst>
                      <a:ext uri="{FF2B5EF4-FFF2-40B4-BE49-F238E27FC236}">
                        <a16:creationId xmlns:a16="http://schemas.microsoft.com/office/drawing/2014/main" id="{EEF9A78C-6249-0691-21FC-AD6F68168E80}"/>
                      </a:ext>
                    </a:extLst>
                  </p:cNvPr>
                  <p:cNvSpPr txBox="1"/>
                  <p:nvPr/>
                </p:nvSpPr>
                <p:spPr>
                  <a:xfrm>
                    <a:off x="2950645" y="10836572"/>
                    <a:ext cx="1112094" cy="29364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lang="en-US" sz="10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rPr>
                      <a:t>FIG.2</a:t>
                    </a:r>
                  </a:p>
                </p:txBody>
              </p:sp>
            </p:grpSp>
            <p:cxnSp>
              <p:nvCxnSpPr>
                <p:cNvPr id="3" name="Connector: Curved 2">
                  <a:extLst>
                    <a:ext uri="{FF2B5EF4-FFF2-40B4-BE49-F238E27FC236}">
                      <a16:creationId xmlns:a16="http://schemas.microsoft.com/office/drawing/2014/main" id="{634F0C45-3709-E1BB-2689-E0D6210F5D12}"/>
                    </a:ext>
                  </a:extLst>
                </p:cNvPr>
                <p:cNvCxnSpPr>
                  <a:cxnSpLocks/>
                  <a:stCxn id="7" idx="2"/>
                </p:cNvCxnSpPr>
                <p:nvPr/>
              </p:nvCxnSpPr>
              <p:spPr>
                <a:xfrm rot="16200000" flipH="1">
                  <a:off x="2106248" y="-346715"/>
                  <a:ext cx="389568" cy="254609"/>
                </a:xfrm>
                <a:prstGeom prst="curvedConnector3">
                  <a:avLst>
                    <a:gd name="adj1" fmla="val 50000"/>
                  </a:avLst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" name="Google Shape;165;p2">
                  <a:extLst>
                    <a:ext uri="{FF2B5EF4-FFF2-40B4-BE49-F238E27FC236}">
                      <a16:creationId xmlns:a16="http://schemas.microsoft.com/office/drawing/2014/main" id="{967AE119-A9E8-3D20-AD4D-508F688D8D0E}"/>
                    </a:ext>
                  </a:extLst>
                </p:cNvPr>
                <p:cNvSpPr txBox="1"/>
                <p:nvPr/>
              </p:nvSpPr>
              <p:spPr>
                <a:xfrm>
                  <a:off x="1896131" y="-700730"/>
                  <a:ext cx="555192" cy="2865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000" b="1" i="0" u="sng" strike="noStrike" cap="none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rPr>
                    <a:t>300</a:t>
                  </a:r>
                </a:p>
              </p:txBody>
            </p:sp>
          </p:grpSp>
          <p:cxnSp>
            <p:nvCxnSpPr>
              <p:cNvPr id="29" name="Google Shape;153;p2">
                <a:extLst>
                  <a:ext uri="{FF2B5EF4-FFF2-40B4-BE49-F238E27FC236}">
                    <a16:creationId xmlns:a16="http://schemas.microsoft.com/office/drawing/2014/main" id="{6C06D83D-A5CE-C7D1-ED5F-94C8E7C21013}"/>
                  </a:ext>
                </a:extLst>
              </p:cNvPr>
              <p:cNvCxnSpPr>
                <a:cxnSpLocks/>
                <a:stCxn id="30" idx="4"/>
                <a:endCxn id="150" idx="0"/>
              </p:cNvCxnSpPr>
              <p:nvPr/>
            </p:nvCxnSpPr>
            <p:spPr>
              <a:xfrm>
                <a:off x="3829228" y="1745066"/>
                <a:ext cx="4791" cy="17423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DFD10046-3159-0EC6-6C1A-E663DA9FD036}"/>
                  </a:ext>
                </a:extLst>
              </p:cNvPr>
              <p:cNvSpPr/>
              <p:nvPr/>
            </p:nvSpPr>
            <p:spPr>
              <a:xfrm>
                <a:off x="3561641" y="1155027"/>
                <a:ext cx="535172" cy="59003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3B7F4AB-9E27-806F-C311-23FF02DBAF8D}"/>
                </a:ext>
              </a:extLst>
            </p:cNvPr>
            <p:cNvGrpSpPr/>
            <p:nvPr/>
          </p:nvGrpSpPr>
          <p:grpSpPr>
            <a:xfrm>
              <a:off x="1541926" y="7850798"/>
              <a:ext cx="4655157" cy="1558742"/>
              <a:chOff x="1541926" y="7850798"/>
              <a:chExt cx="4655157" cy="1558742"/>
            </a:xfrm>
          </p:grpSpPr>
          <p:sp>
            <p:nvSpPr>
              <p:cNvPr id="2" name="Google Shape;155;p2">
                <a:extLst>
                  <a:ext uri="{FF2B5EF4-FFF2-40B4-BE49-F238E27FC236}">
                    <a16:creationId xmlns:a16="http://schemas.microsoft.com/office/drawing/2014/main" id="{4356BCA2-4048-57C9-11CA-F3841B6D4064}"/>
                  </a:ext>
                </a:extLst>
              </p:cNvPr>
              <p:cNvSpPr/>
              <p:nvPr/>
            </p:nvSpPr>
            <p:spPr>
              <a:xfrm>
                <a:off x="1541926" y="8190368"/>
                <a:ext cx="4038526" cy="1219172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US" sz="1000" dirty="0"/>
                  <a:t>RESTRICTING, BY THE HOST PROCESSOR </a:t>
                </a:r>
                <a:r>
                  <a:rPr lang="en-US" sz="1000" b="1" u="sng" dirty="0"/>
                  <a:t>103</a:t>
                </a:r>
                <a:r>
                  <a:rPr lang="en-US" sz="1000" dirty="0"/>
                  <a:t>, TRANSMISSION OF THE SEQUENCE OF VIDEO FRAMES CAPTURED BY THE CAMERA SENSOR </a:t>
                </a:r>
                <a:r>
                  <a:rPr lang="en-US" sz="1000" b="1" u="sng" dirty="0"/>
                  <a:t>101</a:t>
                </a:r>
                <a:r>
                  <a:rPr lang="en-US" sz="1000" dirty="0"/>
                  <a:t> TO ANY DEVICE EXTERNAL TO THE HOST PROCESSOR AND THE NEURAL PROCESSING UNIT </a:t>
                </a:r>
                <a:r>
                  <a:rPr lang="en-US" sz="1000" b="1" u="sng" dirty="0"/>
                  <a:t>105</a:t>
                </a:r>
                <a:r>
                  <a:rPr lang="en-US" sz="1000" dirty="0"/>
                  <a:t>, THEREBY PROVIDING THE PRIVACY-PRESERVING EDGE-BASED THREAT DETECTION</a:t>
                </a:r>
                <a:endParaRPr lang="en-US" sz="1000" i="0" u="sng" strike="noStrike" cap="none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  <p:cxnSp>
            <p:nvCxnSpPr>
              <p:cNvPr id="4" name="Google Shape;153;p2">
                <a:extLst>
                  <a:ext uri="{FF2B5EF4-FFF2-40B4-BE49-F238E27FC236}">
                    <a16:creationId xmlns:a16="http://schemas.microsoft.com/office/drawing/2014/main" id="{817845B7-D451-7B49-5FF6-E5CE42CF722A}"/>
                  </a:ext>
                </a:extLst>
              </p:cNvPr>
              <p:cNvCxnSpPr>
                <a:cxnSpLocks/>
                <a:stCxn id="155" idx="2"/>
                <a:endCxn id="2" idx="0"/>
              </p:cNvCxnSpPr>
              <p:nvPr/>
            </p:nvCxnSpPr>
            <p:spPr>
              <a:xfrm flipH="1">
                <a:off x="3561189" y="7850798"/>
                <a:ext cx="9230" cy="33957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5" name="Google Shape;167;p2">
                <a:extLst>
                  <a:ext uri="{FF2B5EF4-FFF2-40B4-BE49-F238E27FC236}">
                    <a16:creationId xmlns:a16="http://schemas.microsoft.com/office/drawing/2014/main" id="{62DA5987-2696-C8C9-1234-F734B57368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0188" y="8702158"/>
                <a:ext cx="166621" cy="604501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36" name="Google Shape;168;p2">
                <a:extLst>
                  <a:ext uri="{FF2B5EF4-FFF2-40B4-BE49-F238E27FC236}">
                    <a16:creationId xmlns:a16="http://schemas.microsoft.com/office/drawing/2014/main" id="{7690076A-7AC5-2214-B04C-440945CCA60F}"/>
                  </a:ext>
                </a:extLst>
              </p:cNvPr>
              <p:cNvSpPr txBox="1"/>
              <p:nvPr/>
            </p:nvSpPr>
            <p:spPr>
              <a:xfrm>
                <a:off x="5687445" y="9125791"/>
                <a:ext cx="509638" cy="2461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000" b="1" i="0" u="sng" strike="noStrike" cap="none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</a:rPr>
                  <a:t>317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82360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100CDE21-23CB-4617-D193-E770FEC76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">
            <a:extLst>
              <a:ext uri="{FF2B5EF4-FFF2-40B4-BE49-F238E27FC236}">
                <a16:creationId xmlns:a16="http://schemas.microsoft.com/office/drawing/2014/main" id="{2434D704-3BB6-D0EB-AED4-86DB7B8A3F7C}"/>
              </a:ext>
            </a:extLst>
          </p:cNvPr>
          <p:cNvGrpSpPr/>
          <p:nvPr/>
        </p:nvGrpSpPr>
        <p:grpSpPr>
          <a:xfrm>
            <a:off x="4572000" y="18510"/>
            <a:ext cx="2892575" cy="609601"/>
            <a:chOff x="3962400" y="381000"/>
            <a:chExt cx="2179507" cy="609601"/>
          </a:xfrm>
        </p:grpSpPr>
        <p:sp>
          <p:nvSpPr>
            <p:cNvPr id="144" name="Google Shape;144;p2">
              <a:extLst>
                <a:ext uri="{FF2B5EF4-FFF2-40B4-BE49-F238E27FC236}">
                  <a16:creationId xmlns:a16="http://schemas.microsoft.com/office/drawing/2014/main" id="{C9E628B9-A17C-F755-C7CC-79D23EE483C5}"/>
                </a:ext>
              </a:extLst>
            </p:cNvPr>
            <p:cNvSpPr txBox="1"/>
            <p:nvPr/>
          </p:nvSpPr>
          <p:spPr>
            <a:xfrm>
              <a:off x="3962400" y="381000"/>
              <a:ext cx="217950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TOTAL NO. OF PAGES:08</a:t>
              </a:r>
              <a:endParaRPr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45" name="Google Shape;145;p2">
              <a:extLst>
                <a:ext uri="{FF2B5EF4-FFF2-40B4-BE49-F238E27FC236}">
                  <a16:creationId xmlns:a16="http://schemas.microsoft.com/office/drawing/2014/main" id="{D70E4BB5-424A-F3BA-1A73-E69D0C9D101C}"/>
                </a:ext>
              </a:extLst>
            </p:cNvPr>
            <p:cNvSpPr txBox="1"/>
            <p:nvPr/>
          </p:nvSpPr>
          <p:spPr>
            <a:xfrm>
              <a:off x="4038599" y="652047"/>
              <a:ext cx="166584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PAGE NO.: 05</a:t>
              </a:r>
              <a:endParaRPr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146" name="Google Shape;146;p2">
            <a:extLst>
              <a:ext uri="{FF2B5EF4-FFF2-40B4-BE49-F238E27FC236}">
                <a16:creationId xmlns:a16="http://schemas.microsoft.com/office/drawing/2014/main" id="{6DBB98A3-6992-D4C0-8031-C9F6E307F3A9}"/>
              </a:ext>
            </a:extLst>
          </p:cNvPr>
          <p:cNvSpPr txBox="1"/>
          <p:nvPr/>
        </p:nvSpPr>
        <p:spPr>
          <a:xfrm>
            <a:off x="41238" y="66122"/>
            <a:ext cx="326411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NAME OF THE APPLICANT: 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169;p2">
            <a:extLst>
              <a:ext uri="{FF2B5EF4-FFF2-40B4-BE49-F238E27FC236}">
                <a16:creationId xmlns:a16="http://schemas.microsoft.com/office/drawing/2014/main" id="{E1BEEFCB-08B5-2090-70F8-D50AEA7CE4FB}"/>
              </a:ext>
            </a:extLst>
          </p:cNvPr>
          <p:cNvSpPr txBox="1"/>
          <p:nvPr/>
        </p:nvSpPr>
        <p:spPr>
          <a:xfrm>
            <a:off x="2161132" y="4758554"/>
            <a:ext cx="76468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0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FIG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.3A</a:t>
            </a:r>
            <a:endParaRPr lang="en-US" sz="10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3452202-326C-EF10-31D4-65F0F8C591F9}"/>
              </a:ext>
            </a:extLst>
          </p:cNvPr>
          <p:cNvGrpSpPr/>
          <p:nvPr/>
        </p:nvGrpSpPr>
        <p:grpSpPr>
          <a:xfrm>
            <a:off x="624443" y="1715809"/>
            <a:ext cx="6329837" cy="2919253"/>
            <a:chOff x="624443" y="1715809"/>
            <a:chExt cx="6329837" cy="291925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FA87EC8-6086-1036-664C-0063055CC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443" y="1715809"/>
              <a:ext cx="6329837" cy="291925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47555E-713A-B9D5-F96E-9006B4AE73F3}"/>
                </a:ext>
              </a:extLst>
            </p:cNvPr>
            <p:cNvSpPr/>
            <p:nvPr/>
          </p:nvSpPr>
          <p:spPr>
            <a:xfrm>
              <a:off x="1418897" y="1763381"/>
              <a:ext cx="5234151" cy="3019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Google Shape;169;p2">
            <a:extLst>
              <a:ext uri="{FF2B5EF4-FFF2-40B4-BE49-F238E27FC236}">
                <a16:creationId xmlns:a16="http://schemas.microsoft.com/office/drawing/2014/main" id="{0D4C212E-1B96-651B-B7B4-CA7A10333676}"/>
              </a:ext>
            </a:extLst>
          </p:cNvPr>
          <p:cNvSpPr txBox="1"/>
          <p:nvPr/>
        </p:nvSpPr>
        <p:spPr>
          <a:xfrm>
            <a:off x="5396214" y="4758554"/>
            <a:ext cx="76468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0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FIG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.3B</a:t>
            </a:r>
            <a:endParaRPr lang="en-US" sz="10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06C61BA-1B5C-DB59-2724-03087D6A4AFC}"/>
              </a:ext>
            </a:extLst>
          </p:cNvPr>
          <p:cNvGrpSpPr/>
          <p:nvPr/>
        </p:nvGrpSpPr>
        <p:grpSpPr>
          <a:xfrm>
            <a:off x="1302571" y="5602853"/>
            <a:ext cx="5770891" cy="2685307"/>
            <a:chOff x="1302571" y="5602853"/>
            <a:chExt cx="5770891" cy="268530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40648EC-0603-A209-1DA3-77B3C0144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961"/>
            <a:stretch>
              <a:fillRect/>
            </a:stretch>
          </p:blipFill>
          <p:spPr>
            <a:xfrm>
              <a:off x="1302571" y="5747404"/>
              <a:ext cx="5194300" cy="254075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719ED9C-E1AA-8D01-7D00-F18C5B7BFFDD}"/>
                </a:ext>
              </a:extLst>
            </p:cNvPr>
            <p:cNvSpPr/>
            <p:nvPr/>
          </p:nvSpPr>
          <p:spPr>
            <a:xfrm>
              <a:off x="1839311" y="5602853"/>
              <a:ext cx="5234151" cy="2461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Google Shape;169;p2">
            <a:extLst>
              <a:ext uri="{FF2B5EF4-FFF2-40B4-BE49-F238E27FC236}">
                <a16:creationId xmlns:a16="http://schemas.microsoft.com/office/drawing/2014/main" id="{C7B0A6F8-7D2B-EAA5-7E8A-20F7788E903D}"/>
              </a:ext>
            </a:extLst>
          </p:cNvPr>
          <p:cNvSpPr txBox="1"/>
          <p:nvPr/>
        </p:nvSpPr>
        <p:spPr>
          <a:xfrm>
            <a:off x="3517380" y="8536404"/>
            <a:ext cx="76468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0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FIG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.3C</a:t>
            </a:r>
            <a:endParaRPr lang="en-US" sz="10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8979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69FE95E5-92CE-1703-FFF1-0C8F568DE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">
            <a:extLst>
              <a:ext uri="{FF2B5EF4-FFF2-40B4-BE49-F238E27FC236}">
                <a16:creationId xmlns:a16="http://schemas.microsoft.com/office/drawing/2014/main" id="{662F17C6-3112-3900-668E-2C697FA65069}"/>
              </a:ext>
            </a:extLst>
          </p:cNvPr>
          <p:cNvGrpSpPr/>
          <p:nvPr/>
        </p:nvGrpSpPr>
        <p:grpSpPr>
          <a:xfrm>
            <a:off x="4572000" y="18510"/>
            <a:ext cx="2892575" cy="609601"/>
            <a:chOff x="3962400" y="381000"/>
            <a:chExt cx="2179507" cy="609601"/>
          </a:xfrm>
        </p:grpSpPr>
        <p:sp>
          <p:nvSpPr>
            <p:cNvPr id="144" name="Google Shape;144;p2">
              <a:extLst>
                <a:ext uri="{FF2B5EF4-FFF2-40B4-BE49-F238E27FC236}">
                  <a16:creationId xmlns:a16="http://schemas.microsoft.com/office/drawing/2014/main" id="{8437A34D-4996-603A-CB16-B6D672D6776C}"/>
                </a:ext>
              </a:extLst>
            </p:cNvPr>
            <p:cNvSpPr txBox="1"/>
            <p:nvPr/>
          </p:nvSpPr>
          <p:spPr>
            <a:xfrm>
              <a:off x="3962400" y="381000"/>
              <a:ext cx="217950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TOTAL NO. OF PAGES:08</a:t>
              </a:r>
              <a:endParaRPr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45" name="Google Shape;145;p2">
              <a:extLst>
                <a:ext uri="{FF2B5EF4-FFF2-40B4-BE49-F238E27FC236}">
                  <a16:creationId xmlns:a16="http://schemas.microsoft.com/office/drawing/2014/main" id="{CAB0724F-6785-8BF5-C0BA-4AED2454EABC}"/>
                </a:ext>
              </a:extLst>
            </p:cNvPr>
            <p:cNvSpPr txBox="1"/>
            <p:nvPr/>
          </p:nvSpPr>
          <p:spPr>
            <a:xfrm>
              <a:off x="4038599" y="652047"/>
              <a:ext cx="166584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PAGE NO.: 06</a:t>
              </a:r>
              <a:endParaRPr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146" name="Google Shape;146;p2">
            <a:extLst>
              <a:ext uri="{FF2B5EF4-FFF2-40B4-BE49-F238E27FC236}">
                <a16:creationId xmlns:a16="http://schemas.microsoft.com/office/drawing/2014/main" id="{D494EDE0-33D1-8EF5-879B-B02EF5481595}"/>
              </a:ext>
            </a:extLst>
          </p:cNvPr>
          <p:cNvSpPr txBox="1"/>
          <p:nvPr/>
        </p:nvSpPr>
        <p:spPr>
          <a:xfrm>
            <a:off x="41238" y="66122"/>
            <a:ext cx="326411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NAME OF THE APPLICANT: 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6" name="Google Shape;169;p2">
            <a:extLst>
              <a:ext uri="{FF2B5EF4-FFF2-40B4-BE49-F238E27FC236}">
                <a16:creationId xmlns:a16="http://schemas.microsoft.com/office/drawing/2014/main" id="{9A2B7877-6480-F942-9508-D8EC13FDC2E5}"/>
              </a:ext>
            </a:extLst>
          </p:cNvPr>
          <p:cNvSpPr txBox="1"/>
          <p:nvPr/>
        </p:nvSpPr>
        <p:spPr>
          <a:xfrm>
            <a:off x="3305350" y="6124279"/>
            <a:ext cx="76468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0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FIG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.4A</a:t>
            </a:r>
            <a:endParaRPr lang="en-US" sz="10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EF837E-D433-59A6-2DEF-E687173920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42"/>
          <a:stretch>
            <a:fillRect/>
          </a:stretch>
        </p:blipFill>
        <p:spPr>
          <a:xfrm>
            <a:off x="1101900" y="2222937"/>
            <a:ext cx="4406900" cy="36201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7C62A4-FAD5-0071-0F2B-C4F62EBC71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725"/>
          <a:stretch>
            <a:fillRect/>
          </a:stretch>
        </p:blipFill>
        <p:spPr>
          <a:xfrm>
            <a:off x="795438" y="6533333"/>
            <a:ext cx="5284470" cy="29732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69;p2">
            <a:extLst>
              <a:ext uri="{FF2B5EF4-FFF2-40B4-BE49-F238E27FC236}">
                <a16:creationId xmlns:a16="http://schemas.microsoft.com/office/drawing/2014/main" id="{34D7C870-D87F-2FEB-1054-49E92CE1D9B9}"/>
              </a:ext>
            </a:extLst>
          </p:cNvPr>
          <p:cNvSpPr txBox="1"/>
          <p:nvPr/>
        </p:nvSpPr>
        <p:spPr>
          <a:xfrm>
            <a:off x="3189736" y="9669480"/>
            <a:ext cx="76468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0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FIG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.4B</a:t>
            </a:r>
            <a:endParaRPr lang="en-US" sz="10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8542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E3196756-0385-767B-76FB-AFBEAEE37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">
            <a:extLst>
              <a:ext uri="{FF2B5EF4-FFF2-40B4-BE49-F238E27FC236}">
                <a16:creationId xmlns:a16="http://schemas.microsoft.com/office/drawing/2014/main" id="{3094E609-472C-F90F-3040-6DDBFA23EBDC}"/>
              </a:ext>
            </a:extLst>
          </p:cNvPr>
          <p:cNvGrpSpPr/>
          <p:nvPr/>
        </p:nvGrpSpPr>
        <p:grpSpPr>
          <a:xfrm>
            <a:off x="4572000" y="18510"/>
            <a:ext cx="2892575" cy="609601"/>
            <a:chOff x="3962400" y="381000"/>
            <a:chExt cx="2179507" cy="609601"/>
          </a:xfrm>
        </p:grpSpPr>
        <p:sp>
          <p:nvSpPr>
            <p:cNvPr id="144" name="Google Shape;144;p2">
              <a:extLst>
                <a:ext uri="{FF2B5EF4-FFF2-40B4-BE49-F238E27FC236}">
                  <a16:creationId xmlns:a16="http://schemas.microsoft.com/office/drawing/2014/main" id="{53A647B4-4DC0-423A-C4E2-672FF3235BFC}"/>
                </a:ext>
              </a:extLst>
            </p:cNvPr>
            <p:cNvSpPr txBox="1"/>
            <p:nvPr/>
          </p:nvSpPr>
          <p:spPr>
            <a:xfrm>
              <a:off x="3962400" y="381000"/>
              <a:ext cx="217950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TOTAL NO. OF PAGES:08</a:t>
              </a:r>
              <a:endParaRPr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45" name="Google Shape;145;p2">
              <a:extLst>
                <a:ext uri="{FF2B5EF4-FFF2-40B4-BE49-F238E27FC236}">
                  <a16:creationId xmlns:a16="http://schemas.microsoft.com/office/drawing/2014/main" id="{F1899932-6515-9B8D-70DF-AEBAC562F6EB}"/>
                </a:ext>
              </a:extLst>
            </p:cNvPr>
            <p:cNvSpPr txBox="1"/>
            <p:nvPr/>
          </p:nvSpPr>
          <p:spPr>
            <a:xfrm>
              <a:off x="4038599" y="652047"/>
              <a:ext cx="166584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PAGE NO.: 07</a:t>
              </a:r>
              <a:endParaRPr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146" name="Google Shape;146;p2">
            <a:extLst>
              <a:ext uri="{FF2B5EF4-FFF2-40B4-BE49-F238E27FC236}">
                <a16:creationId xmlns:a16="http://schemas.microsoft.com/office/drawing/2014/main" id="{09123A97-B5F8-C95A-8D07-9051035CE6C8}"/>
              </a:ext>
            </a:extLst>
          </p:cNvPr>
          <p:cNvSpPr txBox="1"/>
          <p:nvPr/>
        </p:nvSpPr>
        <p:spPr>
          <a:xfrm>
            <a:off x="41238" y="66122"/>
            <a:ext cx="326411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NAME OF THE APPLICANT: 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6" name="Google Shape;169;p2">
            <a:extLst>
              <a:ext uri="{FF2B5EF4-FFF2-40B4-BE49-F238E27FC236}">
                <a16:creationId xmlns:a16="http://schemas.microsoft.com/office/drawing/2014/main" id="{99AEBC33-E331-75A0-F290-F87E70F8F54F}"/>
              </a:ext>
            </a:extLst>
          </p:cNvPr>
          <p:cNvSpPr txBox="1"/>
          <p:nvPr/>
        </p:nvSpPr>
        <p:spPr>
          <a:xfrm>
            <a:off x="3407021" y="4627859"/>
            <a:ext cx="76468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0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FIG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.4C</a:t>
            </a:r>
            <a:endParaRPr lang="en-US" sz="10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" name="Google Shape;169;p2">
            <a:extLst>
              <a:ext uri="{FF2B5EF4-FFF2-40B4-BE49-F238E27FC236}">
                <a16:creationId xmlns:a16="http://schemas.microsoft.com/office/drawing/2014/main" id="{71DB2F87-A4B2-C9B5-5379-777242D98D31}"/>
              </a:ext>
            </a:extLst>
          </p:cNvPr>
          <p:cNvSpPr txBox="1"/>
          <p:nvPr/>
        </p:nvSpPr>
        <p:spPr>
          <a:xfrm>
            <a:off x="3572075" y="7684649"/>
            <a:ext cx="76468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0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FIG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.4D</a:t>
            </a:r>
            <a:endParaRPr lang="en-US" sz="10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E4DA65-2085-5330-1AD5-D033198C3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73" y="2012929"/>
            <a:ext cx="5729605" cy="26149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85B203-6A69-3492-1BFD-EB22AC8C6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558" y="5192810"/>
            <a:ext cx="5729605" cy="22961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44444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71342866-DB5E-88EE-AA85-BD9852B91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">
            <a:extLst>
              <a:ext uri="{FF2B5EF4-FFF2-40B4-BE49-F238E27FC236}">
                <a16:creationId xmlns:a16="http://schemas.microsoft.com/office/drawing/2014/main" id="{B293923D-1ABB-5738-E723-8B044CCF0FB1}"/>
              </a:ext>
            </a:extLst>
          </p:cNvPr>
          <p:cNvGrpSpPr/>
          <p:nvPr/>
        </p:nvGrpSpPr>
        <p:grpSpPr>
          <a:xfrm>
            <a:off x="4572000" y="18510"/>
            <a:ext cx="2892575" cy="609601"/>
            <a:chOff x="3962400" y="381000"/>
            <a:chExt cx="2179507" cy="609601"/>
          </a:xfrm>
        </p:grpSpPr>
        <p:sp>
          <p:nvSpPr>
            <p:cNvPr id="144" name="Google Shape;144;p2">
              <a:extLst>
                <a:ext uri="{FF2B5EF4-FFF2-40B4-BE49-F238E27FC236}">
                  <a16:creationId xmlns:a16="http://schemas.microsoft.com/office/drawing/2014/main" id="{C7771B70-4807-61CE-846E-7AD8FC1729E9}"/>
                </a:ext>
              </a:extLst>
            </p:cNvPr>
            <p:cNvSpPr txBox="1"/>
            <p:nvPr/>
          </p:nvSpPr>
          <p:spPr>
            <a:xfrm>
              <a:off x="3962400" y="381000"/>
              <a:ext cx="217950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TOTAL NO. OF PAGES:08</a:t>
              </a:r>
              <a:endParaRPr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45" name="Google Shape;145;p2">
              <a:extLst>
                <a:ext uri="{FF2B5EF4-FFF2-40B4-BE49-F238E27FC236}">
                  <a16:creationId xmlns:a16="http://schemas.microsoft.com/office/drawing/2014/main" id="{08985C69-CA01-022B-154F-B900EB02F949}"/>
                </a:ext>
              </a:extLst>
            </p:cNvPr>
            <p:cNvSpPr txBox="1"/>
            <p:nvPr/>
          </p:nvSpPr>
          <p:spPr>
            <a:xfrm>
              <a:off x="4038599" y="652047"/>
              <a:ext cx="166584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PAGE NO.: 08</a:t>
              </a:r>
              <a:endParaRPr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146" name="Google Shape;146;p2">
            <a:extLst>
              <a:ext uri="{FF2B5EF4-FFF2-40B4-BE49-F238E27FC236}">
                <a16:creationId xmlns:a16="http://schemas.microsoft.com/office/drawing/2014/main" id="{7A613E33-2957-8ADA-1B60-F99893BB39A6}"/>
              </a:ext>
            </a:extLst>
          </p:cNvPr>
          <p:cNvSpPr txBox="1"/>
          <p:nvPr/>
        </p:nvSpPr>
        <p:spPr>
          <a:xfrm>
            <a:off x="41238" y="66122"/>
            <a:ext cx="326411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NAME OF THE APPLICANT: 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1DF61F-64AA-9FE5-9F75-98603CE26E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224565"/>
              </p:ext>
            </p:extLst>
          </p:nvPr>
        </p:nvGraphicFramePr>
        <p:xfrm>
          <a:off x="660023" y="1145339"/>
          <a:ext cx="6258678" cy="734662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86226">
                  <a:extLst>
                    <a:ext uri="{9D8B030D-6E8A-4147-A177-3AD203B41FA5}">
                      <a16:colId xmlns:a16="http://schemas.microsoft.com/office/drawing/2014/main" val="626249600"/>
                    </a:ext>
                  </a:extLst>
                </a:gridCol>
                <a:gridCol w="2086226">
                  <a:extLst>
                    <a:ext uri="{9D8B030D-6E8A-4147-A177-3AD203B41FA5}">
                      <a16:colId xmlns:a16="http://schemas.microsoft.com/office/drawing/2014/main" val="1881987691"/>
                    </a:ext>
                  </a:extLst>
                </a:gridCol>
                <a:gridCol w="2086226">
                  <a:extLst>
                    <a:ext uri="{9D8B030D-6E8A-4147-A177-3AD203B41FA5}">
                      <a16:colId xmlns:a16="http://schemas.microsoft.com/office/drawing/2014/main" val="2352898104"/>
                    </a:ext>
                  </a:extLst>
                </a:gridCol>
              </a:tblGrid>
              <a:tr h="235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This Invention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Prior Art / Comparable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98707"/>
                  </a:ext>
                </a:extLst>
              </a:tr>
              <a:tr h="668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Primary detector FPS on edge SBC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52.2 FPS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YOLOv4/v5/v7 on Jetson TX1, FPGA, or Pi 4 without NPU: 5-25 FPS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1882610"/>
                  </a:ext>
                </a:extLst>
              </a:tr>
              <a:tr h="441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Primary detector NPU latency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18.4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50-200 ms without NPU offload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7153376"/>
                  </a:ext>
                </a:extLst>
              </a:tr>
              <a:tr h="441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mAP@0.5 (INT8 deployment)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0.854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PTQ deployments typically lose 0.01–0.04 mAP points vs FP32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122584"/>
                  </a:ext>
                </a:extLst>
              </a:tr>
              <a:tr h="235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FP32 -&gt; INT8 accuracy delta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+0.007 / +0.012 (INT8 higher)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Typical PTQ: -0.01 to -0.04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71074"/>
                  </a:ext>
                </a:extLst>
              </a:tr>
              <a:tr h="668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Sustained FPS under full concurrent 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52.26 +/- 0.76 FPS (CV 1.45%, n=709) (secondary verification neural network in loop)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Not reported with simultaneous SMTP + SSH + voice + MJPEG load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272352"/>
                  </a:ext>
                </a:extLst>
              </a:tr>
              <a:tr h="441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Detect-to-decision (end-to-end cascade)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22-27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Single-stage prior art: 18-80 ms; no multi-stage equivalent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8598291"/>
                  </a:ext>
                </a:extLst>
              </a:tr>
              <a:tr h="441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Mean board power under full 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000">
                          <a:latin typeface="+mj-lt"/>
                        </a:rPr>
                        <a:t>5.89 +/- 1.43 W (peak 8.58 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latin typeface="+mj-lt"/>
                        </a:rPr>
                        <a:t>Comparable Jetson TX1/Nano: 10-25 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2274752"/>
                  </a:ext>
                </a:extLst>
              </a:tr>
              <a:tr h="441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Total hardware BOM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USD 411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000">
                          <a:latin typeface="+mj-lt"/>
                        </a:rPr>
                        <a:t>Commercial NVR + AI: USD 800-2,500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9436719"/>
                  </a:ext>
                </a:extLst>
              </a:tr>
              <a:tr h="441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HEF models on one NPU VDevice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Prior art typically one accelerator per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7981217"/>
                  </a:ext>
                </a:extLst>
              </a:tr>
              <a:tr h="441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Bounded-queue + intentional-drop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No prior home-security art uses this design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4547580"/>
                  </a:ext>
                </a:extLst>
              </a:tr>
              <a:tr h="441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On-device privacy blur on person bbox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Yes (kernel 51 px, sigma 30 px)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Not a first-class feature in prior 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549118"/>
                  </a:ext>
                </a:extLst>
              </a:tr>
              <a:tr h="668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AES-256-GCM encrypted SSH evidence path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Cloud systems upload to vendor cloud, not user-owned store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0602213"/>
                  </a:ext>
                </a:extLst>
              </a:tr>
              <a:tr h="441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Authentication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PBKDF2-SHA256 600k iter + OTP 2FA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DIY systems typically basic-auth or 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3874234"/>
                  </a:ext>
                </a:extLst>
              </a:tr>
              <a:tr h="441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Open-set specificity (household clutter)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1.000 (301/301)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Not reported in prior art home-security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448748"/>
                  </a:ext>
                </a:extLst>
              </a:tr>
              <a:tr h="441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NPU surface temp rise (90 s run)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j-lt"/>
                        </a:rPr>
                        <a:t>+3.8 deg C above ambient idle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+mj-lt"/>
                        </a:rPr>
                        <a:t>Comparable accelerators: 8-15 deg 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238026"/>
                  </a:ext>
                </a:extLst>
              </a:tr>
            </a:tbl>
          </a:graphicData>
        </a:graphic>
      </p:graphicFrame>
      <p:sp>
        <p:nvSpPr>
          <p:cNvPr id="6" name="Google Shape;169;p2">
            <a:extLst>
              <a:ext uri="{FF2B5EF4-FFF2-40B4-BE49-F238E27FC236}">
                <a16:creationId xmlns:a16="http://schemas.microsoft.com/office/drawing/2014/main" id="{8E560842-43B5-0A83-D2AD-1F6ACBEA13A0}"/>
              </a:ext>
            </a:extLst>
          </p:cNvPr>
          <p:cNvSpPr txBox="1"/>
          <p:nvPr/>
        </p:nvSpPr>
        <p:spPr>
          <a:xfrm>
            <a:off x="3292281" y="8772858"/>
            <a:ext cx="76468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TABLE.1</a:t>
            </a:r>
            <a:endParaRPr lang="en-US" sz="10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039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3211</TotalTime>
  <Words>946</Words>
  <Application>Microsoft Office PowerPoint</Application>
  <PresentationFormat>Custom</PresentationFormat>
  <Paragraphs>118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UDITH NAYAK - 220970029 - MITMPL</dc:creator>
  <cp:lastModifiedBy>ADMIN</cp:lastModifiedBy>
  <cp:revision>167</cp:revision>
  <dcterms:created xsi:type="dcterms:W3CDTF">2024-02-12T12:33:46Z</dcterms:created>
  <dcterms:modified xsi:type="dcterms:W3CDTF">2026-07-09T05:05:33Z</dcterms:modified>
</cp:coreProperties>
</file>